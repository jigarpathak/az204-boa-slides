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3"/>
    <p:restoredTop sz="94571"/>
  </p:normalViewPr>
  <p:slideViewPr>
    <p:cSldViewPr snapToGrid="0">
      <p:cViewPr varScale="1">
        <p:scale>
          <a:sx n="115" d="100"/>
          <a:sy n="115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6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4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32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0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9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6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3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4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1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0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78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83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tract blurred background of department store">
            <a:extLst>
              <a:ext uri="{FF2B5EF4-FFF2-40B4-BE49-F238E27FC236}">
                <a16:creationId xmlns:a16="http://schemas.microsoft.com/office/drawing/2014/main" id="{8777CBD8-A110-9004-C307-5BD0E91758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5731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68AE82-3A79-B6F1-0EFA-8369B69DA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Case Study: Contoso Retail Solutions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19D-BAA4-6DE4-D965-94C6912F4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Building Enterprise AI App deployment on Azure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548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972E-FB8A-947E-4276-4ABC744F2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01084"/>
            <a:ext cx="10890929" cy="1097280"/>
          </a:xfrm>
        </p:spPr>
        <p:txBody>
          <a:bodyPr/>
          <a:lstStyle/>
          <a:p>
            <a:r>
              <a:rPr lang="en-US" dirty="0"/>
              <a:t>Case 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6F32E-11D7-A071-872F-4B3D954CE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645920"/>
            <a:ext cx="10890928" cy="3566160"/>
          </a:xfrm>
        </p:spPr>
        <p:txBody>
          <a:bodyPr>
            <a:normAutofit/>
          </a:bodyPr>
          <a:lstStyle/>
          <a:p>
            <a:r>
              <a:rPr lang="en-US" b="1" dirty="0"/>
              <a:t>Objectives</a:t>
            </a:r>
          </a:p>
          <a:p>
            <a:pPr lvl="1"/>
            <a:r>
              <a:rPr lang="en-US" dirty="0"/>
              <a:t>Review customer business requirements </a:t>
            </a:r>
          </a:p>
          <a:p>
            <a:pPr lvl="1"/>
            <a:r>
              <a:rPr lang="en-US" dirty="0"/>
              <a:t>Identify current challenges </a:t>
            </a:r>
          </a:p>
          <a:p>
            <a:pPr lvl="1"/>
            <a:r>
              <a:rPr lang="en-US" dirty="0"/>
              <a:t>Design an Azure AI solution </a:t>
            </a:r>
          </a:p>
          <a:p>
            <a:pPr lvl="1"/>
            <a:r>
              <a:rPr lang="en-US" dirty="0"/>
              <a:t>Create an Azure AI architecture </a:t>
            </a:r>
          </a:p>
          <a:p>
            <a:pPr lvl="1"/>
            <a:r>
              <a:rPr lang="en-US" dirty="0"/>
              <a:t>Present recommendations </a:t>
            </a:r>
          </a:p>
          <a:p>
            <a:pPr lvl="1"/>
            <a:r>
              <a:rPr lang="en-US" dirty="0"/>
              <a:t>Justify technology choices </a:t>
            </a:r>
          </a:p>
          <a:p>
            <a:pPr lvl="1"/>
            <a:r>
              <a:rPr lang="en-US" dirty="0"/>
              <a:t>Address stakeholder concerns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37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8C51-2D40-0D7E-653F-ACCB6537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814" y="267832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Customer 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951D-563A-B3ED-5C95-5A95649DA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814" y="1399939"/>
            <a:ext cx="10890928" cy="131120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About Contoso Retail Solutions</a:t>
            </a:r>
          </a:p>
          <a:p>
            <a:pPr marL="0" indent="0">
              <a:buNone/>
            </a:pPr>
            <a:r>
              <a:rPr lang="en-US" dirty="0"/>
              <a:t>Contoso Retail Solutions is a multinational retail organization operating over 1,500 physical stores and multiple e-commerce platforms across North America, Europe, and Asia.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98C3B-01FD-935F-D4C1-7AD544A5A9FD}"/>
              </a:ext>
            </a:extLst>
          </p:cNvPr>
          <p:cNvSpPr txBox="1"/>
          <p:nvPr/>
        </p:nvSpPr>
        <p:spPr>
          <a:xfrm>
            <a:off x="618814" y="2894903"/>
            <a:ext cx="33152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company sells: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Consumer Electronics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Appliances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Fashion Products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Grocery Items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 Care Products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78D7B-1ED7-C230-B05B-491A7F3F5C78}"/>
              </a:ext>
            </a:extLst>
          </p:cNvPr>
          <p:cNvSpPr txBox="1"/>
          <p:nvPr/>
        </p:nvSpPr>
        <p:spPr>
          <a:xfrm>
            <a:off x="6074735" y="289490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organization generates terabytes of data daily 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Point-of-Sale (POS)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E-commerce transactions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Supply chain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loyalty programs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reviews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 center interactions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inventory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56891-71AE-C76B-D1B9-541ED5AA8DD0}"/>
              </a:ext>
            </a:extLst>
          </p:cNvPr>
          <p:cNvSpPr txBox="1"/>
          <p:nvPr/>
        </p:nvSpPr>
        <p:spPr>
          <a:xfrm>
            <a:off x="496151" y="5386984"/>
            <a:ext cx="11459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Over the last three years, Contoso has invested heavily in AI and Machine Learning initiatives.</a:t>
            </a:r>
          </a:p>
          <a:p>
            <a:pPr>
              <a:buNone/>
            </a:pPr>
            <a:r>
              <a:rPr lang="en-US" dirty="0"/>
              <a:t>Several business units independently developed machine learning models and generative AI solutions, creating significant operational challenges.</a:t>
            </a:r>
          </a:p>
        </p:txBody>
      </p:sp>
    </p:spTree>
    <p:extLst>
      <p:ext uri="{BB962C8B-B14F-4D97-AF65-F5344CB8AC3E}">
        <p14:creationId xmlns:p14="http://schemas.microsoft.com/office/powerpoint/2010/main" val="47050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9F89-8772-8BDC-060E-C01A087F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90294"/>
            <a:ext cx="10890929" cy="1097280"/>
          </a:xfrm>
        </p:spPr>
        <p:txBody>
          <a:bodyPr/>
          <a:lstStyle/>
          <a:p>
            <a:r>
              <a:rPr lang="en-US" dirty="0"/>
              <a:t>Current AI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4609D-6E8E-FE29-59C6-23E00A5D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645920"/>
            <a:ext cx="10890928" cy="356616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Demand Forecasting Team</a:t>
            </a:r>
          </a:p>
          <a:p>
            <a:pPr marL="0" indent="0">
              <a:buNone/>
            </a:pPr>
            <a:r>
              <a:rPr lang="en-US" dirty="0"/>
              <a:t>The Supply Chain Analytics team developed machine learning models to forecast inventory demand.</a:t>
            </a:r>
          </a:p>
          <a:p>
            <a:r>
              <a:rPr lang="en-US" dirty="0"/>
              <a:t>Current issues include:</a:t>
            </a:r>
          </a:p>
          <a:p>
            <a:pPr lvl="1"/>
            <a:r>
              <a:rPr lang="en-US" dirty="0"/>
              <a:t>Models are manually trained by data scientists </a:t>
            </a:r>
          </a:p>
          <a:p>
            <a:pPr lvl="1"/>
            <a:r>
              <a:rPr lang="en-US" dirty="0"/>
              <a:t>No automated retraining process </a:t>
            </a:r>
          </a:p>
          <a:p>
            <a:pPr lvl="1"/>
            <a:r>
              <a:rPr lang="en-US" dirty="0"/>
              <a:t>Model deployment requires manual approvals </a:t>
            </a:r>
          </a:p>
          <a:p>
            <a:pPr lvl="1"/>
            <a:r>
              <a:rPr lang="en-US" dirty="0"/>
              <a:t>Forecast accuracy drops over time due to data drift </a:t>
            </a:r>
          </a:p>
          <a:p>
            <a:pPr lvl="1"/>
            <a:r>
              <a:rPr lang="en-US" dirty="0"/>
              <a:t>No monitoring of model performance after deployment </a:t>
            </a:r>
          </a:p>
          <a:p>
            <a:pPr lvl="1"/>
            <a:r>
              <a:rPr lang="en-US" dirty="0"/>
              <a:t>Multiple model versions exist with no governance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99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6DF8-D180-BACA-2C94-1B743D511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01084"/>
            <a:ext cx="10890929" cy="1097280"/>
          </a:xfrm>
        </p:spPr>
        <p:txBody>
          <a:bodyPr/>
          <a:lstStyle/>
          <a:p>
            <a:r>
              <a:rPr lang="en-US" dirty="0"/>
              <a:t>Customer Insights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2F6D0-B821-F1C8-29D8-938EB3B28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645920"/>
            <a:ext cx="10890928" cy="35661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Marketing department created recommendation models to provide personalized offers.</a:t>
            </a:r>
          </a:p>
          <a:p>
            <a:r>
              <a:rPr lang="en-US" dirty="0"/>
              <a:t>Current issues include:</a:t>
            </a:r>
          </a:p>
          <a:p>
            <a:pPr lvl="1"/>
            <a:r>
              <a:rPr lang="en-US" dirty="0"/>
              <a:t>Models are deployed differently across regions </a:t>
            </a:r>
          </a:p>
          <a:p>
            <a:pPr lvl="1"/>
            <a:r>
              <a:rPr lang="en-US" dirty="0"/>
              <a:t>No centralized model registry </a:t>
            </a:r>
          </a:p>
          <a:p>
            <a:pPr lvl="1"/>
            <a:r>
              <a:rPr lang="en-US" dirty="0"/>
              <a:t>Difficult rollback process </a:t>
            </a:r>
          </a:p>
          <a:p>
            <a:pPr lvl="1"/>
            <a:r>
              <a:rPr lang="en-US" dirty="0"/>
              <a:t>Inconsistent deployment standards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1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934B-CE2D-A1A6-F906-04783890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23386"/>
            <a:ext cx="10890929" cy="1097280"/>
          </a:xfrm>
        </p:spPr>
        <p:txBody>
          <a:bodyPr/>
          <a:lstStyle/>
          <a:p>
            <a:r>
              <a:rPr lang="en-US" dirty="0"/>
              <a:t>Customer Service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6E1F0-4B17-10C1-4EDC-6836ED3EF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5" y="1645920"/>
            <a:ext cx="10890928" cy="3566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Customer Service recently launched an AI-powered retail assistant using Large Language Models.</a:t>
            </a:r>
          </a:p>
          <a:p>
            <a:r>
              <a:rPr lang="en-US" dirty="0"/>
              <a:t>Capabilities include:</a:t>
            </a:r>
          </a:p>
          <a:p>
            <a:pPr lvl="1"/>
            <a:r>
              <a:rPr lang="en-US" dirty="0"/>
              <a:t>Product recommendations </a:t>
            </a:r>
          </a:p>
          <a:p>
            <a:pPr lvl="1"/>
            <a:r>
              <a:rPr lang="en-US" dirty="0"/>
              <a:t>Store policy questions </a:t>
            </a:r>
          </a:p>
          <a:p>
            <a:pPr lvl="1"/>
            <a:r>
              <a:rPr lang="en-US" dirty="0"/>
              <a:t>Order tracking support </a:t>
            </a:r>
          </a:p>
          <a:p>
            <a:pPr lvl="1"/>
            <a:r>
              <a:rPr lang="en-US" dirty="0"/>
              <a:t>Inventory availability queries </a:t>
            </a:r>
          </a:p>
          <a:p>
            <a:pPr marL="0" indent="0">
              <a:buNone/>
            </a:pPr>
            <a:r>
              <a:rPr lang="en-US" dirty="0"/>
              <a:t>The solution currently uses:</a:t>
            </a:r>
          </a:p>
          <a:p>
            <a:pPr lvl="1"/>
            <a:r>
              <a:rPr lang="en-US" dirty="0"/>
              <a:t>Azure OpenAI </a:t>
            </a:r>
          </a:p>
          <a:p>
            <a:pPr lvl="1"/>
            <a:r>
              <a:rPr lang="en-US" dirty="0"/>
              <a:t>Product catalogs </a:t>
            </a:r>
          </a:p>
          <a:p>
            <a:pPr lvl="1"/>
            <a:r>
              <a:rPr lang="en-US" dirty="0"/>
              <a:t>Internal knowledge documents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068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4C084-B4F5-E3A3-147E-2BA0F52C9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79143"/>
            <a:ext cx="10890929" cy="1097280"/>
          </a:xfrm>
        </p:spPr>
        <p:txBody>
          <a:bodyPr/>
          <a:lstStyle/>
          <a:p>
            <a:r>
              <a:rPr lang="en-US" dirty="0"/>
              <a:t>Customer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4F862-83A6-4940-9AEB-9DF47D32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624" y="1836606"/>
            <a:ext cx="2587964" cy="35661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/>
              <a:t>AI Deployment and  Operations Requirements</a:t>
            </a:r>
          </a:p>
          <a:p>
            <a:pPr marL="0" indent="0">
              <a:buNone/>
            </a:pPr>
            <a:r>
              <a:rPr lang="en-US" sz="1800" dirty="0"/>
              <a:t>Contoso requires:</a:t>
            </a:r>
          </a:p>
          <a:p>
            <a:r>
              <a:rPr lang="en-US" sz="1800" b="1" dirty="0"/>
              <a:t>Deployment of AI Solution</a:t>
            </a:r>
          </a:p>
          <a:p>
            <a:pPr lvl="1"/>
            <a:r>
              <a:rPr lang="en-US" sz="1600" dirty="0"/>
              <a:t>Application Version management</a:t>
            </a:r>
          </a:p>
          <a:p>
            <a:pPr lvl="1"/>
            <a:r>
              <a:rPr lang="en-US" sz="1600" dirty="0"/>
              <a:t>Security and governance </a:t>
            </a:r>
          </a:p>
          <a:p>
            <a:pPr lvl="1"/>
            <a:r>
              <a:rPr lang="en-US" sz="1600" dirty="0"/>
              <a:t>Need better platform for managing vector search</a:t>
            </a:r>
          </a:p>
          <a:p>
            <a:pPr lvl="1"/>
            <a:r>
              <a:rPr lang="en-US" sz="1600" dirty="0"/>
              <a:t>Automated CI/CD pipelines</a:t>
            </a:r>
          </a:p>
          <a:p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D6E08B-6036-DFAD-5D40-5C4EA189BA1C}"/>
              </a:ext>
            </a:extLst>
          </p:cNvPr>
          <p:cNvSpPr txBox="1">
            <a:spLocks/>
          </p:cNvSpPr>
          <p:nvPr/>
        </p:nvSpPr>
        <p:spPr>
          <a:xfrm>
            <a:off x="4798062" y="1836606"/>
            <a:ext cx="2587964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Monitoring</a:t>
            </a:r>
          </a:p>
          <a:p>
            <a:pPr marL="0" indent="0">
              <a:buNone/>
            </a:pPr>
            <a:r>
              <a:rPr lang="en-US" sz="1800" dirty="0"/>
              <a:t>The organization requires:</a:t>
            </a:r>
          </a:p>
          <a:p>
            <a:r>
              <a:rPr lang="en-US" sz="1800" dirty="0"/>
              <a:t>Prediction monitoring </a:t>
            </a:r>
          </a:p>
          <a:p>
            <a:r>
              <a:rPr lang="en-US" sz="1800" dirty="0"/>
              <a:t>Data drift monitoring </a:t>
            </a:r>
          </a:p>
          <a:p>
            <a:r>
              <a:rPr lang="en-US" sz="1800" dirty="0"/>
              <a:t>Model quality monitoring </a:t>
            </a:r>
          </a:p>
          <a:p>
            <a:r>
              <a:rPr lang="en-US" sz="1800" dirty="0"/>
              <a:t>Automated alerts</a:t>
            </a:r>
          </a:p>
          <a:p>
            <a:pPr lvl="1"/>
            <a:endParaRPr lang="en-US" sz="1600" dirty="0"/>
          </a:p>
          <a:p>
            <a:endParaRPr lang="en-US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7A5691-4EB7-3A6A-E967-FBF206297E53}"/>
              </a:ext>
            </a:extLst>
          </p:cNvPr>
          <p:cNvSpPr txBox="1">
            <a:spLocks/>
          </p:cNvSpPr>
          <p:nvPr/>
        </p:nvSpPr>
        <p:spPr>
          <a:xfrm>
            <a:off x="8953500" y="1836606"/>
            <a:ext cx="2587964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Governance</a:t>
            </a:r>
          </a:p>
          <a:p>
            <a:pPr marL="0" indent="0">
              <a:buNone/>
            </a:pPr>
            <a:r>
              <a:rPr lang="en-US" sz="1800" dirty="0"/>
              <a:t>The solution must support:</a:t>
            </a:r>
          </a:p>
          <a:p>
            <a:r>
              <a:rPr lang="en-US" sz="1800" dirty="0"/>
              <a:t>Approval workflows </a:t>
            </a:r>
          </a:p>
          <a:p>
            <a:r>
              <a:rPr lang="en-US" sz="1800" dirty="0"/>
              <a:t>Auditability </a:t>
            </a:r>
          </a:p>
          <a:p>
            <a:r>
              <a:rPr lang="en-US" sz="1800" dirty="0"/>
              <a:t>Reproducibility </a:t>
            </a:r>
          </a:p>
          <a:p>
            <a:r>
              <a:rPr lang="en-US" sz="1800" dirty="0"/>
              <a:t>Security compliance</a:t>
            </a:r>
          </a:p>
          <a:p>
            <a:pPr lvl="1"/>
            <a:endParaRPr lang="en-US" sz="16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19307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CE58-C29F-D43B-E4BF-D9DC935B5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45689"/>
            <a:ext cx="10890929" cy="1097280"/>
          </a:xfrm>
        </p:spPr>
        <p:txBody>
          <a:bodyPr/>
          <a:lstStyle/>
          <a:p>
            <a:r>
              <a:rPr lang="en-US" dirty="0"/>
              <a:t>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B319F-108D-7F92-CABE-8DE757AFE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173" y="1442969"/>
            <a:ext cx="10890928" cy="4712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Contoso leadership has established the following goals: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A8379B-E6FC-5CAE-E30A-CD965E2ED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00487"/>
              </p:ext>
            </p:extLst>
          </p:nvPr>
        </p:nvGraphicFramePr>
        <p:xfrm>
          <a:off x="639172" y="2128642"/>
          <a:ext cx="10891836" cy="2560320"/>
        </p:xfrm>
        <a:graphic>
          <a:graphicData uri="http://schemas.openxmlformats.org/drawingml/2006/table">
            <a:tbl>
              <a:tblPr/>
              <a:tblGrid>
                <a:gridCol w="5445918">
                  <a:extLst>
                    <a:ext uri="{9D8B030D-6E8A-4147-A177-3AD203B41FA5}">
                      <a16:colId xmlns:a16="http://schemas.microsoft.com/office/drawing/2014/main" val="286989149"/>
                    </a:ext>
                  </a:extLst>
                </a:gridCol>
                <a:gridCol w="5445918">
                  <a:extLst>
                    <a:ext uri="{9D8B030D-6E8A-4147-A177-3AD203B41FA5}">
                      <a16:colId xmlns:a16="http://schemas.microsoft.com/office/drawing/2014/main" val="27080130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9308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Forecast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1415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AI Deployment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Reduce by 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7388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AI Governance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8507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GenAI Hallucination 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9155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Production Incidents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Reduce by 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6988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Model Rollback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Under 15 minutes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634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40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02B9-2393-0884-1C91-843C33E5B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67631"/>
            <a:ext cx="10890929" cy="1097280"/>
          </a:xfrm>
        </p:spPr>
        <p:txBody>
          <a:bodyPr/>
          <a:lstStyle/>
          <a:p>
            <a:r>
              <a:rPr lang="en-US" dirty="0"/>
              <a:t>Customer Objections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2ED77-C0C1-F0C1-7B0C-7761947A6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451443"/>
            <a:ext cx="10890928" cy="35661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CIO</a:t>
            </a:r>
          </a:p>
          <a:p>
            <a:pPr marL="0" indent="0">
              <a:buNone/>
            </a:pPr>
            <a:r>
              <a:rPr lang="en-US" dirty="0"/>
              <a:t>"We cannot allow AI models to be deployed without governance and approval."</a:t>
            </a:r>
          </a:p>
          <a:p>
            <a:pPr marL="0" indent="0">
              <a:buNone/>
            </a:pPr>
            <a:r>
              <a:rPr lang="en-US" b="1" dirty="0"/>
              <a:t>Head of Retail Operations</a:t>
            </a:r>
          </a:p>
          <a:p>
            <a:pPr marL="0" indent="0">
              <a:buNone/>
            </a:pPr>
            <a:r>
              <a:rPr lang="en-US" dirty="0"/>
              <a:t>"We need confidence that demand forecasting models remain accurate."</a:t>
            </a:r>
          </a:p>
          <a:p>
            <a:pPr marL="0" indent="0">
              <a:buNone/>
            </a:pPr>
            <a:r>
              <a:rPr lang="en-US" b="1" dirty="0"/>
              <a:t>Chief Risk Officer</a:t>
            </a:r>
          </a:p>
          <a:p>
            <a:pPr marL="0" indent="0">
              <a:buNone/>
            </a:pPr>
            <a:r>
              <a:rPr lang="en-US" dirty="0"/>
              <a:t>"We must demonstrate responsible AI and maintain audit trails."</a:t>
            </a:r>
          </a:p>
          <a:p>
            <a:pPr marL="0" indent="0">
              <a:buNone/>
            </a:pPr>
            <a:r>
              <a:rPr lang="en-US" b="1" dirty="0"/>
              <a:t>VP Customer Experience</a:t>
            </a:r>
          </a:p>
          <a:p>
            <a:pPr marL="0" indent="0">
              <a:buNone/>
            </a:pPr>
            <a:r>
              <a:rPr lang="en-US" dirty="0"/>
              <a:t>"We cannot risk customers receiving inaccurate responses from our AI assistant."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67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2DFD-2D0A-8EEC-84E2-85A8F18B7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6799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Call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8B74-86E2-7005-1AD4-C6D4E7A13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465271"/>
            <a:ext cx="10890928" cy="481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 an Azure-based solution that addresses: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55B3C-93BB-A923-AF6F-C564CCF5AD13}"/>
              </a:ext>
            </a:extLst>
          </p:cNvPr>
          <p:cNvSpPr txBox="1"/>
          <p:nvPr/>
        </p:nvSpPr>
        <p:spPr>
          <a:xfrm>
            <a:off x="978195" y="2260799"/>
            <a:ext cx="34868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 Application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App deployment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reference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effective vector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Governance</a:t>
            </a:r>
          </a:p>
        </p:txBody>
      </p:sp>
    </p:spTree>
    <p:extLst>
      <p:ext uri="{BB962C8B-B14F-4D97-AF65-F5344CB8AC3E}">
        <p14:creationId xmlns:p14="http://schemas.microsoft.com/office/powerpoint/2010/main" val="1053326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2182-AD05-C210-7D5C-FEF0C03D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67630"/>
            <a:ext cx="10890929" cy="1097280"/>
          </a:xfrm>
        </p:spPr>
        <p:txBody>
          <a:bodyPr/>
          <a:lstStyle/>
          <a:p>
            <a:r>
              <a:rPr lang="en-US" dirty="0"/>
              <a:t>Identify Azure Services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E650329-03EA-285E-61E0-9A6D0128D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2047" y="1712202"/>
            <a:ext cx="824701" cy="8247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4E3398C-620E-70F7-5813-119BD0FF8D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3461" y="1810639"/>
            <a:ext cx="639966" cy="639966"/>
          </a:xfrm>
          <a:prstGeom prst="rect">
            <a:avLst/>
          </a:prstGeom>
        </p:spPr>
      </p:pic>
      <p:pic>
        <p:nvPicPr>
          <p:cNvPr id="5" name="Picture 4" descr="Azure Container Apps - Pricing | Microsoft Azure">
            <a:extLst>
              <a:ext uri="{FF2B5EF4-FFF2-40B4-BE49-F238E27FC236}">
                <a16:creationId xmlns:a16="http://schemas.microsoft.com/office/drawing/2014/main" id="{4B471235-55F1-55D6-F759-7BA01CE37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020" y="1862487"/>
            <a:ext cx="642836" cy="63996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4089E8A-698F-623A-A3DF-F9B9D6A13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1449" y="1867605"/>
            <a:ext cx="634848" cy="6348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E33AD1F-F7E6-D2EB-2B21-44CDF7839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7177" y="1743091"/>
            <a:ext cx="842831" cy="84283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CA8951F-CBF3-7967-AE41-93B4B5E559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0987" y="1760593"/>
            <a:ext cx="842831" cy="84283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C2993D-78A3-BA93-F340-B6694B0599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8990" y="3638628"/>
            <a:ext cx="992829" cy="99282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6C83756-2DB5-E57C-4DC2-F8BCFE4128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8542" y="3674446"/>
            <a:ext cx="842830" cy="842830"/>
          </a:xfrm>
          <a:prstGeom prst="rect">
            <a:avLst/>
          </a:prstGeom>
        </p:spPr>
      </p:pic>
      <p:pic>
        <p:nvPicPr>
          <p:cNvPr id="11" name="Picture 10" descr="Pricing - App Configuration | Microsoft Azure">
            <a:extLst>
              <a:ext uri="{FF2B5EF4-FFF2-40B4-BE49-F238E27FC236}">
                <a16:creationId xmlns:a16="http://schemas.microsoft.com/office/drawing/2014/main" id="{69E644CD-7F68-9C60-01CB-D1E4178874A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4340" r="22172"/>
          <a:stretch>
            <a:fillRect/>
          </a:stretch>
        </p:blipFill>
        <p:spPr>
          <a:xfrm>
            <a:off x="1930849" y="3754851"/>
            <a:ext cx="861418" cy="8428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A4C505-88F5-5BAC-BB87-FEBF08DABB8C}"/>
              </a:ext>
            </a:extLst>
          </p:cNvPr>
          <p:cNvSpPr txBox="1"/>
          <p:nvPr/>
        </p:nvSpPr>
        <p:spPr>
          <a:xfrm>
            <a:off x="1930849" y="2585922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CAE894-3932-7EC0-F0CB-0C8EB4DB3C20}"/>
              </a:ext>
            </a:extLst>
          </p:cNvPr>
          <p:cNvSpPr txBox="1"/>
          <p:nvPr/>
        </p:nvSpPr>
        <p:spPr>
          <a:xfrm>
            <a:off x="3463461" y="257080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C7C20-287C-6DB3-A17E-5D6B3B432FB4}"/>
              </a:ext>
            </a:extLst>
          </p:cNvPr>
          <p:cNvSpPr txBox="1"/>
          <p:nvPr/>
        </p:nvSpPr>
        <p:spPr>
          <a:xfrm>
            <a:off x="4821745" y="2536903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55957-BBE5-BFEE-2F44-B5AD384A8F18}"/>
              </a:ext>
            </a:extLst>
          </p:cNvPr>
          <p:cNvSpPr txBox="1"/>
          <p:nvPr/>
        </p:nvSpPr>
        <p:spPr>
          <a:xfrm>
            <a:off x="5865998" y="2490669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Apps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194E1B-7E93-20E0-82DB-B3EE1A44E949}"/>
              </a:ext>
            </a:extLst>
          </p:cNvPr>
          <p:cNvSpPr txBox="1"/>
          <p:nvPr/>
        </p:nvSpPr>
        <p:spPr>
          <a:xfrm>
            <a:off x="8104652" y="2601303"/>
            <a:ext cx="3026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Cosmos DB &amp; Postgres SQL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B1CEC3-DAFE-3A12-BF0A-FF8EAF575883}"/>
              </a:ext>
            </a:extLst>
          </p:cNvPr>
          <p:cNvSpPr txBox="1"/>
          <p:nvPr/>
        </p:nvSpPr>
        <p:spPr>
          <a:xfrm>
            <a:off x="1674555" y="4724323"/>
            <a:ext cx="3926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 Configuration, Redis Cache &amp; Key Vault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AA7E3AB-DF63-7B4C-D072-202C6F723D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4864" y="3715781"/>
            <a:ext cx="842829" cy="8428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6F7BC13-1137-00FF-DA2A-6C60432D9906}"/>
              </a:ext>
            </a:extLst>
          </p:cNvPr>
          <p:cNvSpPr txBox="1"/>
          <p:nvPr/>
        </p:nvSpPr>
        <p:spPr>
          <a:xfrm>
            <a:off x="6001848" y="4724323"/>
            <a:ext cx="170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ADO</a:t>
            </a:r>
          </a:p>
        </p:txBody>
      </p:sp>
    </p:spTree>
    <p:extLst>
      <p:ext uri="{BB962C8B-B14F-4D97-AF65-F5344CB8AC3E}">
        <p14:creationId xmlns:p14="http://schemas.microsoft.com/office/powerpoint/2010/main" val="374239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A9E54-685D-39EB-71F2-058EA3B4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78782"/>
            <a:ext cx="10890929" cy="1097280"/>
          </a:xfrm>
        </p:spPr>
        <p:txBody>
          <a:bodyPr/>
          <a:lstStyle/>
          <a:p>
            <a:r>
              <a:rPr lang="en-US" dirty="0"/>
              <a:t>Proposed Architecture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DC7C950D-C4BB-DF01-A071-6578841355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0623" y="1721926"/>
            <a:ext cx="824701" cy="82470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BF66C8EF-B5FA-0898-FC25-CD0F8C38ED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2308" y="1827851"/>
            <a:ext cx="639966" cy="639966"/>
          </a:xfrm>
          <a:prstGeom prst="rect">
            <a:avLst/>
          </a:prstGeom>
        </p:spPr>
      </p:pic>
      <p:pic>
        <p:nvPicPr>
          <p:cNvPr id="46" name="Picture 45" descr="Azure Container Apps - Pricing | Microsoft Azure">
            <a:extLst>
              <a:ext uri="{FF2B5EF4-FFF2-40B4-BE49-F238E27FC236}">
                <a16:creationId xmlns:a16="http://schemas.microsoft.com/office/drawing/2014/main" id="{41D34A72-B907-07CE-2091-143A94B55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258" y="1912470"/>
            <a:ext cx="642836" cy="63996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B79D4C4-32A0-06F9-CB3E-7B1E17B084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4926" y="2862278"/>
            <a:ext cx="634848" cy="634848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3FEB4DA-3694-F761-8600-740CB7B19A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9536" y="2019447"/>
            <a:ext cx="842831" cy="842831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025B9915-A759-B19C-869E-E10943A5B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9536" y="3374509"/>
            <a:ext cx="842831" cy="842831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2055A7AC-65CD-8C02-DE2B-96806DE486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6098" y="3933676"/>
            <a:ext cx="992829" cy="99282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4512BD67-9988-A1CB-A8A4-97F6C7425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39872" y="3933678"/>
            <a:ext cx="842830" cy="842830"/>
          </a:xfrm>
          <a:prstGeom prst="rect">
            <a:avLst/>
          </a:prstGeom>
        </p:spPr>
      </p:pic>
      <p:pic>
        <p:nvPicPr>
          <p:cNvPr id="57" name="Picture 56" descr="Pricing - App Configuration | Microsoft Azure">
            <a:extLst>
              <a:ext uri="{FF2B5EF4-FFF2-40B4-BE49-F238E27FC236}">
                <a16:creationId xmlns:a16="http://schemas.microsoft.com/office/drawing/2014/main" id="{7A3963AC-1AE5-25FD-7CD8-04AB5698F48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4340" r="22172"/>
          <a:stretch>
            <a:fillRect/>
          </a:stretch>
        </p:blipFill>
        <p:spPr>
          <a:xfrm>
            <a:off x="4868389" y="3933676"/>
            <a:ext cx="861418" cy="842832"/>
          </a:xfrm>
          <a:prstGeom prst="rect">
            <a:avLst/>
          </a:prstGeom>
        </p:spPr>
      </p:pic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490730B-77A4-3C72-1830-ECE7E7E126F3}"/>
              </a:ext>
            </a:extLst>
          </p:cNvPr>
          <p:cNvSpPr/>
          <p:nvPr/>
        </p:nvSpPr>
        <p:spPr>
          <a:xfrm>
            <a:off x="2359199" y="1224557"/>
            <a:ext cx="9166302" cy="5236611"/>
          </a:xfrm>
          <a:prstGeom prst="roundRect">
            <a:avLst>
              <a:gd name="adj" fmla="val 687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B0616A-8585-1B03-DA70-F00377684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5668" y="1676055"/>
            <a:ext cx="842829" cy="84282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DAC19D-3BFC-7188-E806-3282D496EC2C}"/>
              </a:ext>
            </a:extLst>
          </p:cNvPr>
          <p:cNvCxnSpPr>
            <a:stCxn id="3" idx="3"/>
          </p:cNvCxnSpPr>
          <p:nvPr/>
        </p:nvCxnSpPr>
        <p:spPr>
          <a:xfrm flipV="1">
            <a:off x="2248497" y="2063074"/>
            <a:ext cx="732126" cy="34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2212E36F-AF9B-047C-79E8-8F01875A15D8}"/>
              </a:ext>
            </a:extLst>
          </p:cNvPr>
          <p:cNvCxnSpPr>
            <a:endCxn id="45" idx="1"/>
          </p:cNvCxnSpPr>
          <p:nvPr/>
        </p:nvCxnSpPr>
        <p:spPr>
          <a:xfrm>
            <a:off x="3805324" y="2134276"/>
            <a:ext cx="1586984" cy="1355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0074BF4-198A-A6AB-850F-4DFB92EF4738}"/>
              </a:ext>
            </a:extLst>
          </p:cNvPr>
          <p:cNvCxnSpPr>
            <a:cxnSpLocks/>
            <a:stCxn id="44" idx="3"/>
            <a:endCxn id="46" idx="0"/>
          </p:cNvCxnSpPr>
          <p:nvPr/>
        </p:nvCxnSpPr>
        <p:spPr>
          <a:xfrm flipV="1">
            <a:off x="3805324" y="1912470"/>
            <a:ext cx="4135352" cy="221807"/>
          </a:xfrm>
          <a:prstGeom prst="bentConnector4">
            <a:avLst>
              <a:gd name="adj1" fmla="val 19688"/>
              <a:gd name="adj2" fmla="val 2889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Programmer female outline">
            <a:extLst>
              <a:ext uri="{FF2B5EF4-FFF2-40B4-BE49-F238E27FC236}">
                <a16:creationId xmlns:a16="http://schemas.microsoft.com/office/drawing/2014/main" id="{2917A014-F022-8ABF-043D-28DAE6325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1654" y="3685478"/>
            <a:ext cx="914400" cy="914400"/>
          </a:xfrm>
          <a:prstGeom prst="rect">
            <a:avLst/>
          </a:prstGeom>
        </p:spPr>
      </p:pic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E67E80C2-E9B7-A258-19CF-5E539E87B8EF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 rot="16200000" flipH="1">
            <a:off x="6130090" y="2050017"/>
            <a:ext cx="394461" cy="12300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6F94486-5A35-0492-ACD1-984FD26DC377}"/>
              </a:ext>
            </a:extLst>
          </p:cNvPr>
          <p:cNvCxnSpPr>
            <a:stCxn id="46" idx="2"/>
            <a:endCxn id="48" idx="0"/>
          </p:cNvCxnSpPr>
          <p:nvPr/>
        </p:nvCxnSpPr>
        <p:spPr>
          <a:xfrm rot="5400000">
            <a:off x="7286592" y="2208194"/>
            <a:ext cx="309842" cy="9983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29745B7-59B2-4346-CEF9-0EAC346D7790}"/>
              </a:ext>
            </a:extLst>
          </p:cNvPr>
          <p:cNvCxnSpPr>
            <a:cxnSpLocks/>
            <a:stCxn id="48" idx="2"/>
            <a:endCxn id="57" idx="0"/>
          </p:cNvCxnSpPr>
          <p:nvPr/>
        </p:nvCxnSpPr>
        <p:spPr>
          <a:xfrm rot="5400000">
            <a:off x="5902449" y="2893775"/>
            <a:ext cx="436550" cy="16432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509D4D7D-AC2D-E9E5-5FED-46077BAD98B7}"/>
              </a:ext>
            </a:extLst>
          </p:cNvPr>
          <p:cNvCxnSpPr>
            <a:endCxn id="54" idx="0"/>
          </p:cNvCxnSpPr>
          <p:nvPr/>
        </p:nvCxnSpPr>
        <p:spPr>
          <a:xfrm rot="16200000" flipH="1">
            <a:off x="6729156" y="3710319"/>
            <a:ext cx="436550" cy="101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3CB55011-4790-8C6D-F052-76CC343DA4AC}"/>
              </a:ext>
            </a:extLst>
          </p:cNvPr>
          <p:cNvCxnSpPr>
            <a:cxnSpLocks/>
            <a:stCxn id="48" idx="2"/>
            <a:endCxn id="56" idx="0"/>
          </p:cNvCxnSpPr>
          <p:nvPr/>
        </p:nvCxnSpPr>
        <p:spPr>
          <a:xfrm rot="16200000" flipH="1">
            <a:off x="7483542" y="2955933"/>
            <a:ext cx="436552" cy="15189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3DD9B807-E793-0A59-67EA-8D359D5357B9}"/>
              </a:ext>
            </a:extLst>
          </p:cNvPr>
          <p:cNvCxnSpPr>
            <a:endCxn id="48" idx="1"/>
          </p:cNvCxnSpPr>
          <p:nvPr/>
        </p:nvCxnSpPr>
        <p:spPr>
          <a:xfrm flipV="1">
            <a:off x="1996054" y="3179702"/>
            <a:ext cx="4628872" cy="9350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8E7B007B-A916-F43B-B0B7-5D528B61D134}"/>
              </a:ext>
            </a:extLst>
          </p:cNvPr>
          <p:cNvCxnSpPr>
            <a:stCxn id="46" idx="3"/>
          </p:cNvCxnSpPr>
          <p:nvPr/>
        </p:nvCxnSpPr>
        <p:spPr>
          <a:xfrm>
            <a:off x="8262094" y="2232453"/>
            <a:ext cx="1238745" cy="2353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FD24ADD-8DB8-513B-B92D-E09CBAEA34C4}"/>
              </a:ext>
            </a:extLst>
          </p:cNvPr>
          <p:cNvSpPr/>
          <p:nvPr/>
        </p:nvSpPr>
        <p:spPr>
          <a:xfrm>
            <a:off x="9500839" y="1912470"/>
            <a:ext cx="1906859" cy="2687408"/>
          </a:xfrm>
          <a:prstGeom prst="roundRect">
            <a:avLst>
              <a:gd name="adj" fmla="val 731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101070-1666-7F22-1044-8F13931855E9}"/>
              </a:ext>
            </a:extLst>
          </p:cNvPr>
          <p:cNvSpPr txBox="1"/>
          <p:nvPr/>
        </p:nvSpPr>
        <p:spPr>
          <a:xfrm>
            <a:off x="1495584" y="1912803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0B8930-9D48-2A35-B749-BDE41713524C}"/>
              </a:ext>
            </a:extLst>
          </p:cNvPr>
          <p:cNvSpPr txBox="1"/>
          <p:nvPr/>
        </p:nvSpPr>
        <p:spPr>
          <a:xfrm>
            <a:off x="3103161" y="245442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D9E995-316D-BE1C-0EA7-17A55E1D947E}"/>
              </a:ext>
            </a:extLst>
          </p:cNvPr>
          <p:cNvSpPr txBox="1"/>
          <p:nvPr/>
        </p:nvSpPr>
        <p:spPr>
          <a:xfrm>
            <a:off x="5743632" y="2321837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AKS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0601E1-8F2C-647F-4D99-63813EA7BB48}"/>
              </a:ext>
            </a:extLst>
          </p:cNvPr>
          <p:cNvSpPr txBox="1"/>
          <p:nvPr/>
        </p:nvSpPr>
        <p:spPr>
          <a:xfrm>
            <a:off x="7987639" y="1574900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858448-B8D1-5391-4DAA-E3EAC896DB16}"/>
              </a:ext>
            </a:extLst>
          </p:cNvPr>
          <p:cNvSpPr txBox="1"/>
          <p:nvPr/>
        </p:nvSpPr>
        <p:spPr>
          <a:xfrm>
            <a:off x="9918205" y="2715703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CosmosDB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AC94B7-AF33-C744-8C3E-8EC2752223F8}"/>
              </a:ext>
            </a:extLst>
          </p:cNvPr>
          <p:cNvSpPr txBox="1"/>
          <p:nvPr/>
        </p:nvSpPr>
        <p:spPr>
          <a:xfrm>
            <a:off x="9826706" y="4170426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Postgres SQL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CB6505-C0E8-4B7C-1934-39DF610E4CF7}"/>
              </a:ext>
            </a:extLst>
          </p:cNvPr>
          <p:cNvSpPr txBox="1"/>
          <p:nvPr/>
        </p:nvSpPr>
        <p:spPr>
          <a:xfrm>
            <a:off x="7825095" y="4776508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Vault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27F9E4-4456-53B6-BA19-0CD224F45D33}"/>
              </a:ext>
            </a:extLst>
          </p:cNvPr>
          <p:cNvSpPr txBox="1"/>
          <p:nvPr/>
        </p:nvSpPr>
        <p:spPr>
          <a:xfrm>
            <a:off x="6390292" y="4776508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Redis Cache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F0A2EB-FF05-7444-DFF9-55B35496B78D}"/>
              </a:ext>
            </a:extLst>
          </p:cNvPr>
          <p:cNvSpPr txBox="1"/>
          <p:nvPr/>
        </p:nvSpPr>
        <p:spPr>
          <a:xfrm>
            <a:off x="4482026" y="4775618"/>
            <a:ext cx="1678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 Configuration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D73860E0-0ADB-E68C-0A67-E77604AAAE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67931" y="5766207"/>
            <a:ext cx="634847" cy="634847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2597FE3F-F09F-A938-FCB0-BD7D58921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16455" y="5778855"/>
            <a:ext cx="628992" cy="62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2245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524</Words>
  <Application>Microsoft Macintosh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Grandview Display</vt:lpstr>
      <vt:lpstr>DashVTI</vt:lpstr>
      <vt:lpstr>Case Study: Contoso Retail Solutions </vt:lpstr>
      <vt:lpstr>Case Study Overview</vt:lpstr>
      <vt:lpstr>Customer Situation</vt:lpstr>
      <vt:lpstr>Current AI Landscape</vt:lpstr>
      <vt:lpstr>Customer Insights Team</vt:lpstr>
      <vt:lpstr>Customer Service Team</vt:lpstr>
      <vt:lpstr>Customer Requirements</vt:lpstr>
      <vt:lpstr>Business Objectives</vt:lpstr>
      <vt:lpstr>Customer Objections</vt:lpstr>
      <vt:lpstr>Call to Action</vt:lpstr>
      <vt:lpstr>Identify Azure Services</vt:lpstr>
      <vt:lpstr>Proposed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Jigar Pathak</dc:creator>
  <cp:lastModifiedBy>Jigar Pathak</cp:lastModifiedBy>
  <cp:revision>11</cp:revision>
  <dcterms:created xsi:type="dcterms:W3CDTF">2026-06-25T12:45:39Z</dcterms:created>
  <dcterms:modified xsi:type="dcterms:W3CDTF">2026-07-17T11:56:27Z</dcterms:modified>
</cp:coreProperties>
</file>