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61" autoAdjust="0"/>
    <p:restoredTop sz="94660"/>
  </p:normalViewPr>
  <p:slideViewPr>
    <p:cSldViewPr snapToGrid="0">
      <p:cViewPr varScale="1">
        <p:scale>
          <a:sx n="122" d="100"/>
          <a:sy n="122" d="100"/>
        </p:scale>
        <p:origin x="39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C298-3287-4AD5-9037-A784ABA643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81D4EE-6507-461A-934E-7A951C742A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074C01-CED4-48A1-A1E5-6CA66739DC2F}"/>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5" name="Footer Placeholder 4">
            <a:extLst>
              <a:ext uri="{FF2B5EF4-FFF2-40B4-BE49-F238E27FC236}">
                <a16:creationId xmlns:a16="http://schemas.microsoft.com/office/drawing/2014/main" id="{4C27E078-EE3D-4578-BF4B-4E7ECD9856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9AE744-4E98-443A-8254-632E93315B49}"/>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231199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766A7-348A-4554-91F9-4CEDBF48AA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3BDDCC-E964-4FE0-BC24-3B41AC0FA7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9E3229-420C-4870-B0D6-751FFC199558}"/>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5" name="Footer Placeholder 4">
            <a:extLst>
              <a:ext uri="{FF2B5EF4-FFF2-40B4-BE49-F238E27FC236}">
                <a16:creationId xmlns:a16="http://schemas.microsoft.com/office/drawing/2014/main" id="{CC6C1C1A-AE1B-4DFD-9C55-EB9607CD8C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B4BDCB-A3F8-434E-9DA0-A4DBC92FD3DB}"/>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141268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F047-30CD-407A-994F-5787C3F021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C82A1F-6843-456B-8445-379F0C8B46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7AC389-C59E-43B8-9FBF-55779281CDCC}"/>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5" name="Footer Placeholder 4">
            <a:extLst>
              <a:ext uri="{FF2B5EF4-FFF2-40B4-BE49-F238E27FC236}">
                <a16:creationId xmlns:a16="http://schemas.microsoft.com/office/drawing/2014/main" id="{4C5E9C4B-249A-40A2-8AAB-7F6F1AEA18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44E40F-1B0C-43D9-AFD3-91DEE816EF9A}"/>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2695651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8B48-C95F-4246-BFEB-014F96FC7A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B25CFC-7F30-44DA-95E8-5C1F4B936B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7DFE97-B625-4BC4-98FA-7B11E17143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FA5D33-B577-4F7D-A1F4-393335917196}"/>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6" name="Footer Placeholder 5">
            <a:extLst>
              <a:ext uri="{FF2B5EF4-FFF2-40B4-BE49-F238E27FC236}">
                <a16:creationId xmlns:a16="http://schemas.microsoft.com/office/drawing/2014/main" id="{C2623DF2-9D1C-4AF9-B446-38FDF7557F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C51135-E749-45E6-B4EF-B1FCE832394B}"/>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151997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7E88-E80E-4E4F-81A2-2D216A81733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FF1745-2620-4576-B0E6-C884C7883F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51A43-1428-4FE6-A397-25D84B1531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5FBE4B-D7AC-4054-9065-78DB2EB3B0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EBA85-E38E-4084-BD7C-2F6CC2E0DC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CA03B1-92C1-4BB2-9D41-6C3325EE434D}"/>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8" name="Footer Placeholder 7">
            <a:extLst>
              <a:ext uri="{FF2B5EF4-FFF2-40B4-BE49-F238E27FC236}">
                <a16:creationId xmlns:a16="http://schemas.microsoft.com/office/drawing/2014/main" id="{F08063BD-D904-40C0-8619-ECCFCC8850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98F9C2-5B7F-4AD6-9A4C-03831D86F76D}"/>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2490159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5309C-853A-4438-B650-38F8C9D0AE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9947D6-CFE7-4CE0-86E3-C8343D0E697E}"/>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4" name="Footer Placeholder 3">
            <a:extLst>
              <a:ext uri="{FF2B5EF4-FFF2-40B4-BE49-F238E27FC236}">
                <a16:creationId xmlns:a16="http://schemas.microsoft.com/office/drawing/2014/main" id="{D0C74F2C-E363-4FB0-9DF8-E182CF38FC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B7CF29-B873-4E4E-A8F1-DB1A251C9A0C}"/>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3596474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467BB2-B342-491A-A162-A47B88CCB227}"/>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3" name="Footer Placeholder 2">
            <a:extLst>
              <a:ext uri="{FF2B5EF4-FFF2-40B4-BE49-F238E27FC236}">
                <a16:creationId xmlns:a16="http://schemas.microsoft.com/office/drawing/2014/main" id="{1EAAD6C8-0486-4D39-9DE2-0D8751817F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DAB9EB-52F8-41ED-826F-399A22951CC5}"/>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2151757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CE90C-24F8-40AE-9402-4EA683925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87307A-3DE6-4A6B-A8CC-2044A257A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175492-7437-40C1-8DC3-833A57ACE1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B9623-DED0-427E-AED7-49644EEEB14D}"/>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6" name="Footer Placeholder 5">
            <a:extLst>
              <a:ext uri="{FF2B5EF4-FFF2-40B4-BE49-F238E27FC236}">
                <a16:creationId xmlns:a16="http://schemas.microsoft.com/office/drawing/2014/main" id="{BE295ADA-AD92-4F51-A4F7-3244956E64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E0EC1A-7599-4723-9032-35387C8EC14B}"/>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3996003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4CCA-5A16-4BD2-B858-E9B35073F6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66F589-6873-44FD-8A03-DACEC9E27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256333-8C75-478E-88AA-94FD02DAB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F969DB-2F3B-4D4D-8381-62737CD9D953}"/>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6" name="Footer Placeholder 5">
            <a:extLst>
              <a:ext uri="{FF2B5EF4-FFF2-40B4-BE49-F238E27FC236}">
                <a16:creationId xmlns:a16="http://schemas.microsoft.com/office/drawing/2014/main" id="{4CC1486B-C071-4F60-AB4C-A699320A48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5EBF07-B2D7-4115-A4A1-5AAA609B145F}"/>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1492664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F2E63-AAAF-4486-976C-997C0D9001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C73886-9761-4B1A-87CE-237BA3EBD8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4CF3DC-5A81-4EBD-B3D2-3DEAF167A091}"/>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5" name="Footer Placeholder 4">
            <a:extLst>
              <a:ext uri="{FF2B5EF4-FFF2-40B4-BE49-F238E27FC236}">
                <a16:creationId xmlns:a16="http://schemas.microsoft.com/office/drawing/2014/main" id="{A714DE2F-CB49-4F79-8EDC-36C570A2E4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C2BDB3-1B82-4497-8D73-BC34A2B76E42}"/>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3132798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9795D5-018D-4AAB-8259-F8C6E0167E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318DAF-A141-4B06-BCA3-909CF3DB40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C3168E-49C7-41C6-9B12-2A3D96337A61}"/>
              </a:ext>
            </a:extLst>
          </p:cNvPr>
          <p:cNvSpPr>
            <a:spLocks noGrp="1"/>
          </p:cNvSpPr>
          <p:nvPr>
            <p:ph type="dt" sz="half" idx="10"/>
          </p:nvPr>
        </p:nvSpPr>
        <p:spPr/>
        <p:txBody>
          <a:bodyPr/>
          <a:lstStyle/>
          <a:p>
            <a:fld id="{F2DBA6F9-CFA4-40D7-B5CD-4698A6AE9A62}" type="datetimeFigureOut">
              <a:rPr lang="en-IN" smtClean="0"/>
              <a:t>19/12/25</a:t>
            </a:fld>
            <a:endParaRPr lang="en-IN"/>
          </a:p>
        </p:txBody>
      </p:sp>
      <p:sp>
        <p:nvSpPr>
          <p:cNvPr id="5" name="Footer Placeholder 4">
            <a:extLst>
              <a:ext uri="{FF2B5EF4-FFF2-40B4-BE49-F238E27FC236}">
                <a16:creationId xmlns:a16="http://schemas.microsoft.com/office/drawing/2014/main" id="{18204733-7DA6-4993-BEC7-60E63AC854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EFF6B4-5DF3-4DA0-AA14-DB0C4442BB59}"/>
              </a:ext>
            </a:extLst>
          </p:cNvPr>
          <p:cNvSpPr>
            <a:spLocks noGrp="1"/>
          </p:cNvSpPr>
          <p:nvPr>
            <p:ph type="sldNum" sz="quarter" idx="12"/>
          </p:nvPr>
        </p:nvSpPr>
        <p:spPr/>
        <p:txBody>
          <a:bodyPr/>
          <a:lstStyle/>
          <a:p>
            <a:fld id="{A9CCB230-03CB-4996-8458-D3383453165E}" type="slidenum">
              <a:rPr lang="en-IN" smtClean="0"/>
              <a:t>‹#›</a:t>
            </a:fld>
            <a:endParaRPr lang="en-IN"/>
          </a:p>
        </p:txBody>
      </p:sp>
    </p:spTree>
    <p:extLst>
      <p:ext uri="{BB962C8B-B14F-4D97-AF65-F5344CB8AC3E}">
        <p14:creationId xmlns:p14="http://schemas.microsoft.com/office/powerpoint/2010/main" val="2610457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8F75C3-8029-4777-9D60-A8F319142C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DBCB1A-2F51-4867-82D4-BC13195D1B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65F440-ACAB-4DBE-A997-9820E0D667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BA6F9-CFA4-40D7-B5CD-4698A6AE9A62}" type="datetimeFigureOut">
              <a:rPr lang="en-IN" smtClean="0"/>
              <a:t>19/12/25</a:t>
            </a:fld>
            <a:endParaRPr lang="en-IN"/>
          </a:p>
        </p:txBody>
      </p:sp>
      <p:sp>
        <p:nvSpPr>
          <p:cNvPr id="5" name="Footer Placeholder 4">
            <a:extLst>
              <a:ext uri="{FF2B5EF4-FFF2-40B4-BE49-F238E27FC236}">
                <a16:creationId xmlns:a16="http://schemas.microsoft.com/office/drawing/2014/main" id="{6AF8F61C-1F94-4F9F-BA08-9E81AEFDA3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D906AC-F188-4B2D-9B89-2CBE97AB0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CB230-03CB-4996-8458-D3383453165E}" type="slidenum">
              <a:rPr lang="en-IN" smtClean="0"/>
              <a:t>‹#›</a:t>
            </a:fld>
            <a:endParaRPr lang="en-IN"/>
          </a:p>
        </p:txBody>
      </p:sp>
    </p:spTree>
    <p:extLst>
      <p:ext uri="{BB962C8B-B14F-4D97-AF65-F5344CB8AC3E}">
        <p14:creationId xmlns:p14="http://schemas.microsoft.com/office/powerpoint/2010/main" val="604504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hyperlink" Target="mailto:username@tenant/onmicrosoft.com"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E0C45B-32FC-4193-956C-155BCF2B5882}"/>
              </a:ext>
            </a:extLst>
          </p:cNvPr>
          <p:cNvSpPr txBox="1"/>
          <p:nvPr/>
        </p:nvSpPr>
        <p:spPr>
          <a:xfrm>
            <a:off x="4438836" y="142042"/>
            <a:ext cx="2867488" cy="369332"/>
          </a:xfrm>
          <a:prstGeom prst="rect">
            <a:avLst/>
          </a:prstGeom>
          <a:noFill/>
        </p:spPr>
        <p:txBody>
          <a:bodyPr wrap="square" rtlCol="0">
            <a:spAutoFit/>
          </a:bodyPr>
          <a:lstStyle/>
          <a:p>
            <a:r>
              <a:rPr lang="en-IN" dirty="0"/>
              <a:t>Emp Information Application</a:t>
            </a:r>
          </a:p>
        </p:txBody>
      </p:sp>
      <p:sp>
        <p:nvSpPr>
          <p:cNvPr id="5" name="TextBox 4">
            <a:extLst>
              <a:ext uri="{FF2B5EF4-FFF2-40B4-BE49-F238E27FC236}">
                <a16:creationId xmlns:a16="http://schemas.microsoft.com/office/drawing/2014/main" id="{A20AB2C5-8376-47CD-9DB1-F44BEC830D85}"/>
              </a:ext>
            </a:extLst>
          </p:cNvPr>
          <p:cNvSpPr txBox="1"/>
          <p:nvPr/>
        </p:nvSpPr>
        <p:spPr>
          <a:xfrm>
            <a:off x="150920" y="511374"/>
            <a:ext cx="2610035" cy="3970318"/>
          </a:xfrm>
          <a:prstGeom prst="rect">
            <a:avLst/>
          </a:prstGeom>
          <a:noFill/>
        </p:spPr>
        <p:txBody>
          <a:bodyPr wrap="square" rtlCol="0">
            <a:spAutoFit/>
          </a:bodyPr>
          <a:lstStyle/>
          <a:p>
            <a:pPr marL="342900" indent="-342900">
              <a:buAutoNum type="arabicParenR"/>
            </a:pPr>
            <a:r>
              <a:rPr lang="en-IN" dirty="0"/>
              <a:t>Emp Directory</a:t>
            </a:r>
          </a:p>
          <a:p>
            <a:pPr marL="800100" lvl="1" indent="-342900">
              <a:buAutoNum type="arabicParenR"/>
            </a:pPr>
            <a:r>
              <a:rPr lang="en-IN" b="1" dirty="0"/>
              <a:t>Emp Name</a:t>
            </a:r>
          </a:p>
          <a:p>
            <a:pPr marL="800100" lvl="1" indent="-342900">
              <a:buAutoNum type="arabicParenR"/>
            </a:pPr>
            <a:r>
              <a:rPr lang="en-IN" b="1" dirty="0"/>
              <a:t>Email</a:t>
            </a:r>
          </a:p>
          <a:p>
            <a:pPr marL="800100" lvl="1" indent="-342900">
              <a:buAutoNum type="arabicParenR"/>
            </a:pPr>
            <a:r>
              <a:rPr lang="en-IN" b="1" dirty="0"/>
              <a:t>Cell Number</a:t>
            </a:r>
          </a:p>
          <a:p>
            <a:pPr marL="800100" lvl="1" indent="-342900">
              <a:buAutoNum type="arabicParenR"/>
            </a:pPr>
            <a:r>
              <a:rPr lang="en-IN" b="1" dirty="0"/>
              <a:t>Location</a:t>
            </a:r>
          </a:p>
          <a:p>
            <a:pPr marL="800100" lvl="1" indent="-342900">
              <a:buAutoNum type="arabicParenR"/>
            </a:pPr>
            <a:r>
              <a:rPr lang="en-IN" b="1" dirty="0"/>
              <a:t>Company</a:t>
            </a:r>
          </a:p>
          <a:p>
            <a:pPr marL="800100" lvl="1" indent="-342900">
              <a:buAutoNum type="arabicParenR"/>
            </a:pPr>
            <a:r>
              <a:rPr lang="en-IN" b="1" dirty="0" err="1"/>
              <a:t>ProfilePic</a:t>
            </a:r>
            <a:endParaRPr lang="en-IN" b="1" dirty="0"/>
          </a:p>
          <a:p>
            <a:pPr marL="342900" indent="-342900">
              <a:buAutoNum type="arabicParenR"/>
            </a:pPr>
            <a:r>
              <a:rPr lang="en-IN" dirty="0" err="1"/>
              <a:t>WebJob</a:t>
            </a:r>
            <a:r>
              <a:rPr lang="en-IN" dirty="0"/>
              <a:t>/image optimization process</a:t>
            </a:r>
          </a:p>
          <a:p>
            <a:pPr marL="342900" indent="-342900">
              <a:buAutoNum type="arabicParenR"/>
            </a:pPr>
            <a:r>
              <a:rPr lang="en-IN" dirty="0"/>
              <a:t>To be loaded faster</a:t>
            </a:r>
          </a:p>
          <a:p>
            <a:pPr marL="342900" indent="-342900">
              <a:buAutoNum type="arabicParenR"/>
            </a:pPr>
            <a:r>
              <a:rPr lang="en-IN" dirty="0"/>
              <a:t>API Layer</a:t>
            </a:r>
          </a:p>
          <a:p>
            <a:pPr marL="342900" indent="-342900">
              <a:buAutoNum type="arabicParenR"/>
            </a:pPr>
            <a:r>
              <a:rPr lang="en-IN" dirty="0"/>
              <a:t>Welcome email – Automated process</a:t>
            </a:r>
          </a:p>
          <a:p>
            <a:pPr marL="342900" indent="-342900">
              <a:buAutoNum type="arabicParenR"/>
            </a:pPr>
            <a:endParaRPr lang="en-IN" dirty="0"/>
          </a:p>
        </p:txBody>
      </p:sp>
      <p:sp>
        <p:nvSpPr>
          <p:cNvPr id="6" name="TextBox 5">
            <a:extLst>
              <a:ext uri="{FF2B5EF4-FFF2-40B4-BE49-F238E27FC236}">
                <a16:creationId xmlns:a16="http://schemas.microsoft.com/office/drawing/2014/main" id="{0CBC9137-9EA6-4C44-912F-1DACF9A5DF53}"/>
              </a:ext>
            </a:extLst>
          </p:cNvPr>
          <p:cNvSpPr txBox="1"/>
          <p:nvPr/>
        </p:nvSpPr>
        <p:spPr>
          <a:xfrm>
            <a:off x="2629270" y="511374"/>
            <a:ext cx="3105850" cy="1200329"/>
          </a:xfrm>
          <a:prstGeom prst="rect">
            <a:avLst/>
          </a:prstGeom>
          <a:noFill/>
        </p:spPr>
        <p:txBody>
          <a:bodyPr wrap="none" rtlCol="0">
            <a:spAutoFit/>
          </a:bodyPr>
          <a:lstStyle/>
          <a:p>
            <a:pPr marL="342900" indent="-342900">
              <a:buAutoNum type="arabicParenR"/>
            </a:pPr>
            <a:r>
              <a:rPr lang="en-IN" dirty="0"/>
              <a:t>Authentication</a:t>
            </a:r>
          </a:p>
          <a:p>
            <a:pPr marL="800100" lvl="1" indent="-342900">
              <a:buAutoNum type="arabicParenR"/>
            </a:pPr>
            <a:r>
              <a:rPr lang="en-IN" dirty="0"/>
              <a:t>Single Sign on</a:t>
            </a:r>
          </a:p>
          <a:p>
            <a:pPr marL="800100" lvl="1" indent="-342900">
              <a:buAutoNum type="arabicParenR"/>
            </a:pPr>
            <a:r>
              <a:rPr lang="en-IN" dirty="0"/>
              <a:t>Auth. Active Directory</a:t>
            </a:r>
          </a:p>
          <a:p>
            <a:pPr marL="800100" lvl="1" indent="-342900">
              <a:buAutoNum type="arabicParenR"/>
            </a:pPr>
            <a:r>
              <a:rPr lang="en-IN" dirty="0"/>
              <a:t>Enable MFA</a:t>
            </a:r>
          </a:p>
        </p:txBody>
      </p:sp>
      <p:sp>
        <p:nvSpPr>
          <p:cNvPr id="7" name="TextBox 6">
            <a:extLst>
              <a:ext uri="{FF2B5EF4-FFF2-40B4-BE49-F238E27FC236}">
                <a16:creationId xmlns:a16="http://schemas.microsoft.com/office/drawing/2014/main" id="{2B9A408D-AE16-4B58-9A97-0DB6BD02A772}"/>
              </a:ext>
            </a:extLst>
          </p:cNvPr>
          <p:cNvSpPr txBox="1"/>
          <p:nvPr/>
        </p:nvSpPr>
        <p:spPr>
          <a:xfrm>
            <a:off x="5972717" y="509686"/>
            <a:ext cx="3043654" cy="1200329"/>
          </a:xfrm>
          <a:prstGeom prst="rect">
            <a:avLst/>
          </a:prstGeom>
          <a:noFill/>
        </p:spPr>
        <p:txBody>
          <a:bodyPr wrap="none" rtlCol="0">
            <a:spAutoFit/>
          </a:bodyPr>
          <a:lstStyle/>
          <a:p>
            <a:pPr marL="342900" indent="-342900">
              <a:buAutoNum type="arabicParenR"/>
            </a:pPr>
            <a:r>
              <a:rPr lang="en-IN" dirty="0"/>
              <a:t>Deployment of Application</a:t>
            </a:r>
          </a:p>
          <a:p>
            <a:pPr marL="800100" lvl="1" indent="-342900">
              <a:buAutoNum type="arabicParenR"/>
            </a:pPr>
            <a:r>
              <a:rPr lang="en-IN" dirty="0"/>
              <a:t>IaaS</a:t>
            </a:r>
          </a:p>
          <a:p>
            <a:pPr marL="800100" lvl="1" indent="-342900">
              <a:buAutoNum type="arabicParenR"/>
            </a:pPr>
            <a:r>
              <a:rPr lang="en-IN" b="1" dirty="0"/>
              <a:t>PaaS</a:t>
            </a:r>
          </a:p>
          <a:p>
            <a:pPr marL="800100" lvl="1" indent="-342900">
              <a:buAutoNum type="arabicParenR"/>
            </a:pPr>
            <a:r>
              <a:rPr lang="en-IN" dirty="0"/>
              <a:t>DevOps integration</a:t>
            </a:r>
          </a:p>
        </p:txBody>
      </p:sp>
      <p:sp>
        <p:nvSpPr>
          <p:cNvPr id="8" name="TextBox 7">
            <a:extLst>
              <a:ext uri="{FF2B5EF4-FFF2-40B4-BE49-F238E27FC236}">
                <a16:creationId xmlns:a16="http://schemas.microsoft.com/office/drawing/2014/main" id="{73D43AF0-6137-40D7-B096-765C84A5EEAF}"/>
              </a:ext>
            </a:extLst>
          </p:cNvPr>
          <p:cNvSpPr txBox="1"/>
          <p:nvPr/>
        </p:nvSpPr>
        <p:spPr>
          <a:xfrm>
            <a:off x="9412347" y="511373"/>
            <a:ext cx="2628733" cy="369332"/>
          </a:xfrm>
          <a:prstGeom prst="rect">
            <a:avLst/>
          </a:prstGeom>
          <a:noFill/>
        </p:spPr>
        <p:txBody>
          <a:bodyPr wrap="none" rtlCol="0">
            <a:spAutoFit/>
          </a:bodyPr>
          <a:lstStyle/>
          <a:p>
            <a:pPr marL="342900" indent="-342900">
              <a:buAutoNum type="arabicParenR"/>
            </a:pPr>
            <a:r>
              <a:rPr lang="en-IN" dirty="0"/>
              <a:t>Application High Avail.</a:t>
            </a:r>
          </a:p>
        </p:txBody>
      </p:sp>
    </p:spTree>
    <p:extLst>
      <p:ext uri="{BB962C8B-B14F-4D97-AF65-F5344CB8AC3E}">
        <p14:creationId xmlns:p14="http://schemas.microsoft.com/office/powerpoint/2010/main" val="3487690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F51B491-24D6-421F-85F4-46A8F09ADDD1}"/>
              </a:ext>
            </a:extLst>
          </p:cNvPr>
          <p:cNvSpPr/>
          <p:nvPr/>
        </p:nvSpPr>
        <p:spPr>
          <a:xfrm>
            <a:off x="0" y="0"/>
            <a:ext cx="3923930" cy="47939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7926665-D737-45F5-BEFD-E1FDF791E580}"/>
              </a:ext>
            </a:extLst>
          </p:cNvPr>
          <p:cNvSpPr txBox="1"/>
          <p:nvPr/>
        </p:nvSpPr>
        <p:spPr>
          <a:xfrm>
            <a:off x="4662256" y="2902997"/>
            <a:ext cx="2867488" cy="369332"/>
          </a:xfrm>
          <a:prstGeom prst="rect">
            <a:avLst/>
          </a:prstGeom>
          <a:noFill/>
        </p:spPr>
        <p:txBody>
          <a:bodyPr wrap="square" rtlCol="0">
            <a:spAutoFit/>
          </a:bodyPr>
          <a:lstStyle/>
          <a:p>
            <a:r>
              <a:rPr lang="en-IN" dirty="0"/>
              <a:t>Emp Information Application</a:t>
            </a:r>
          </a:p>
        </p:txBody>
      </p:sp>
      <p:pic>
        <p:nvPicPr>
          <p:cNvPr id="1026" name="Picture 2" descr="Azure Storage Resources | Wake Up And Code!">
            <a:extLst>
              <a:ext uri="{FF2B5EF4-FFF2-40B4-BE49-F238E27FC236}">
                <a16:creationId xmlns:a16="http://schemas.microsoft.com/office/drawing/2014/main" id="{689220B1-C247-45B7-B1E3-FB3AB4CF78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32" t="19561" r="51248" b="24354"/>
          <a:stretch/>
        </p:blipFill>
        <p:spPr bwMode="auto">
          <a:xfrm>
            <a:off x="248574" y="204186"/>
            <a:ext cx="2183907" cy="104266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17C32AF-7A6E-4C86-99ED-8C9523567428}"/>
              </a:ext>
            </a:extLst>
          </p:cNvPr>
          <p:cNvSpPr/>
          <p:nvPr/>
        </p:nvSpPr>
        <p:spPr>
          <a:xfrm>
            <a:off x="248574" y="1763450"/>
            <a:ext cx="2183907" cy="1446550"/>
          </a:xfrm>
          <a:prstGeom prst="rect">
            <a:avLst/>
          </a:prstGeom>
        </p:spPr>
        <p:txBody>
          <a:bodyPr wrap="square">
            <a:spAutoFit/>
          </a:bodyPr>
          <a:lstStyle/>
          <a:p>
            <a:pPr marL="800100" lvl="1" indent="-342900">
              <a:buAutoNum type="arabicParenR"/>
            </a:pPr>
            <a:r>
              <a:rPr lang="en-IN" sz="1100" dirty="0"/>
              <a:t>Emp Name</a:t>
            </a:r>
          </a:p>
          <a:p>
            <a:pPr marL="800100" lvl="1" indent="-342900">
              <a:buAutoNum type="arabicParenR"/>
            </a:pPr>
            <a:r>
              <a:rPr lang="en-IN" sz="1100" dirty="0"/>
              <a:t>Email</a:t>
            </a:r>
          </a:p>
          <a:p>
            <a:pPr marL="800100" lvl="1" indent="-342900">
              <a:buAutoNum type="arabicParenR"/>
            </a:pPr>
            <a:r>
              <a:rPr lang="en-IN" sz="1100" dirty="0"/>
              <a:t>Cell Number</a:t>
            </a:r>
          </a:p>
          <a:p>
            <a:pPr marL="800100" lvl="1" indent="-342900">
              <a:buAutoNum type="arabicParenR"/>
            </a:pPr>
            <a:r>
              <a:rPr lang="en-IN" sz="1100" dirty="0"/>
              <a:t>Location</a:t>
            </a:r>
          </a:p>
          <a:p>
            <a:pPr marL="800100" lvl="1" indent="-342900">
              <a:buAutoNum type="arabicParenR"/>
            </a:pPr>
            <a:r>
              <a:rPr lang="en-IN" sz="1100" dirty="0"/>
              <a:t>Company</a:t>
            </a:r>
          </a:p>
          <a:p>
            <a:pPr marL="800100" lvl="1" indent="-342900">
              <a:buAutoNum type="arabicParenR"/>
            </a:pPr>
            <a:r>
              <a:rPr lang="en-IN" sz="1100" dirty="0"/>
              <a:t>Profile Pic blob URL will be mapped with EMP record</a:t>
            </a:r>
          </a:p>
        </p:txBody>
      </p:sp>
      <p:cxnSp>
        <p:nvCxnSpPr>
          <p:cNvPr id="8" name="Straight Arrow Connector 7">
            <a:extLst>
              <a:ext uri="{FF2B5EF4-FFF2-40B4-BE49-F238E27FC236}">
                <a16:creationId xmlns:a16="http://schemas.microsoft.com/office/drawing/2014/main" id="{08A9CFCA-DC21-4026-9D94-3BD0BDB25FB8}"/>
              </a:ext>
            </a:extLst>
          </p:cNvPr>
          <p:cNvCxnSpPr>
            <a:stCxn id="6" idx="0"/>
            <a:endCxn id="1026" idx="2"/>
          </p:cNvCxnSpPr>
          <p:nvPr/>
        </p:nvCxnSpPr>
        <p:spPr>
          <a:xfrm flipV="1">
            <a:off x="1340528" y="1246850"/>
            <a:ext cx="0" cy="516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8FF8391-A204-4265-B520-97D8AFBDF9C3}"/>
              </a:ext>
            </a:extLst>
          </p:cNvPr>
          <p:cNvSpPr/>
          <p:nvPr/>
        </p:nvSpPr>
        <p:spPr>
          <a:xfrm>
            <a:off x="2231112" y="401680"/>
            <a:ext cx="1579984" cy="276999"/>
          </a:xfrm>
          <a:prstGeom prst="rect">
            <a:avLst/>
          </a:prstGeom>
        </p:spPr>
        <p:txBody>
          <a:bodyPr wrap="none">
            <a:spAutoFit/>
          </a:bodyPr>
          <a:lstStyle/>
          <a:p>
            <a:pPr marL="800100" lvl="1" indent="-342900">
              <a:buAutoNum type="arabicParenR"/>
            </a:pPr>
            <a:r>
              <a:rPr lang="en-IN" sz="1200" dirty="0" err="1"/>
              <a:t>ProfilePic</a:t>
            </a:r>
            <a:endParaRPr lang="en-IN" sz="1200" dirty="0"/>
          </a:p>
        </p:txBody>
      </p:sp>
      <p:cxnSp>
        <p:nvCxnSpPr>
          <p:cNvPr id="11" name="Straight Arrow Connector 10">
            <a:extLst>
              <a:ext uri="{FF2B5EF4-FFF2-40B4-BE49-F238E27FC236}">
                <a16:creationId xmlns:a16="http://schemas.microsoft.com/office/drawing/2014/main" id="{07EA1F41-CB69-45F0-9FED-48DEAA7E1C99}"/>
              </a:ext>
            </a:extLst>
          </p:cNvPr>
          <p:cNvCxnSpPr/>
          <p:nvPr/>
        </p:nvCxnSpPr>
        <p:spPr>
          <a:xfrm flipH="1">
            <a:off x="2432481" y="540179"/>
            <a:ext cx="3284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1D8632A9-D4E1-4F3D-8A36-BA6CD32AA260}"/>
              </a:ext>
            </a:extLst>
          </p:cNvPr>
          <p:cNvCxnSpPr>
            <a:stCxn id="9" idx="2"/>
            <a:endCxn id="6" idx="3"/>
          </p:cNvCxnSpPr>
          <p:nvPr/>
        </p:nvCxnSpPr>
        <p:spPr>
          <a:xfrm rot="5400000">
            <a:off x="1822770" y="1288391"/>
            <a:ext cx="1808046" cy="58862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04FE81B-24A0-471B-916D-F27043846F31}"/>
              </a:ext>
            </a:extLst>
          </p:cNvPr>
          <p:cNvSpPr txBox="1"/>
          <p:nvPr/>
        </p:nvSpPr>
        <p:spPr>
          <a:xfrm>
            <a:off x="9108488" y="34430"/>
            <a:ext cx="2537783" cy="2192908"/>
          </a:xfrm>
          <a:prstGeom prst="rect">
            <a:avLst/>
          </a:prstGeom>
          <a:noFill/>
        </p:spPr>
        <p:txBody>
          <a:bodyPr wrap="square" rtlCol="0">
            <a:spAutoFit/>
          </a:bodyPr>
          <a:lstStyle/>
          <a:p>
            <a:r>
              <a:rPr lang="en-IN" sz="1050" b="1" dirty="0"/>
              <a:t>Model</a:t>
            </a:r>
          </a:p>
          <a:p>
            <a:r>
              <a:rPr lang="en-IN" sz="1050" dirty="0" err="1"/>
              <a:t>BlobStorageOperation</a:t>
            </a:r>
            <a:endParaRPr lang="en-IN" sz="1050" dirty="0"/>
          </a:p>
          <a:p>
            <a:r>
              <a:rPr lang="en-IN" sz="1050" dirty="0" err="1"/>
              <a:t>TableStorageOperation</a:t>
            </a:r>
            <a:endParaRPr lang="en-IN" sz="1050" dirty="0"/>
          </a:p>
          <a:p>
            <a:endParaRPr lang="en-IN" sz="1050" dirty="0"/>
          </a:p>
          <a:p>
            <a:r>
              <a:rPr lang="en-IN" sz="1050" b="1" dirty="0"/>
              <a:t>View</a:t>
            </a:r>
          </a:p>
          <a:p>
            <a:r>
              <a:rPr lang="en-IN" sz="1050" dirty="0"/>
              <a:t>UI to create and view the emp directory</a:t>
            </a:r>
          </a:p>
          <a:p>
            <a:endParaRPr lang="en-IN" sz="1050" dirty="0"/>
          </a:p>
          <a:p>
            <a:r>
              <a:rPr lang="en-IN" sz="1050" b="1" dirty="0"/>
              <a:t>Controller</a:t>
            </a:r>
          </a:p>
          <a:p>
            <a:r>
              <a:rPr lang="en-IN" sz="1050" dirty="0" err="1"/>
              <a:t>EmployeeController</a:t>
            </a:r>
            <a:endParaRPr lang="en-IN" sz="1050" dirty="0"/>
          </a:p>
          <a:p>
            <a:endParaRPr lang="en-IN" sz="1050" dirty="0"/>
          </a:p>
          <a:p>
            <a:endParaRPr lang="en-IN" sz="1050" dirty="0"/>
          </a:p>
          <a:p>
            <a:r>
              <a:rPr lang="en-IN" sz="1050" b="1" dirty="0"/>
              <a:t>Data Model class</a:t>
            </a:r>
          </a:p>
          <a:p>
            <a:r>
              <a:rPr lang="en-IN" sz="1050" dirty="0" err="1"/>
              <a:t>EmpDetails.cs</a:t>
            </a:r>
            <a:endParaRPr lang="en-IN" sz="1050" dirty="0"/>
          </a:p>
        </p:txBody>
      </p:sp>
      <p:sp>
        <p:nvSpPr>
          <p:cNvPr id="17" name="TextBox 16">
            <a:extLst>
              <a:ext uri="{FF2B5EF4-FFF2-40B4-BE49-F238E27FC236}">
                <a16:creationId xmlns:a16="http://schemas.microsoft.com/office/drawing/2014/main" id="{898CD826-E40C-474A-BB84-5C9924FEF82C}"/>
              </a:ext>
            </a:extLst>
          </p:cNvPr>
          <p:cNvSpPr txBox="1"/>
          <p:nvPr/>
        </p:nvSpPr>
        <p:spPr>
          <a:xfrm>
            <a:off x="4223564" y="182847"/>
            <a:ext cx="3744871" cy="923330"/>
          </a:xfrm>
          <a:prstGeom prst="rect">
            <a:avLst/>
          </a:prstGeom>
          <a:noFill/>
        </p:spPr>
        <p:txBody>
          <a:bodyPr wrap="none" rtlCol="0">
            <a:spAutoFit/>
          </a:bodyPr>
          <a:lstStyle/>
          <a:p>
            <a:r>
              <a:rPr lang="en-IN" dirty="0"/>
              <a:t>Storage Account – </a:t>
            </a:r>
            <a:r>
              <a:rPr lang="en-IN" dirty="0" err="1"/>
              <a:t>empdetails</a:t>
            </a:r>
            <a:endParaRPr lang="en-IN" dirty="0"/>
          </a:p>
          <a:p>
            <a:pPr marL="342900" indent="-342900">
              <a:buAutoNum type="arabicParenR"/>
            </a:pPr>
            <a:r>
              <a:rPr lang="en-IN" dirty="0" err="1"/>
              <a:t>Empimages</a:t>
            </a:r>
            <a:r>
              <a:rPr lang="en-IN" dirty="0"/>
              <a:t> – Profile pic employee</a:t>
            </a:r>
          </a:p>
          <a:p>
            <a:pPr marL="342900" indent="-342900">
              <a:buAutoNum type="arabicParenR"/>
            </a:pPr>
            <a:r>
              <a:rPr lang="en-IN" dirty="0" err="1"/>
              <a:t>Empdata</a:t>
            </a:r>
            <a:r>
              <a:rPr lang="en-IN" dirty="0"/>
              <a:t> </a:t>
            </a:r>
          </a:p>
        </p:txBody>
      </p:sp>
      <p:sp>
        <p:nvSpPr>
          <p:cNvPr id="18" name="Rectangle 17">
            <a:extLst>
              <a:ext uri="{FF2B5EF4-FFF2-40B4-BE49-F238E27FC236}">
                <a16:creationId xmlns:a16="http://schemas.microsoft.com/office/drawing/2014/main" id="{FFDCB456-506D-4BFF-B02A-6DA457A6BEA6}"/>
              </a:ext>
            </a:extLst>
          </p:cNvPr>
          <p:cNvSpPr/>
          <p:nvPr/>
        </p:nvSpPr>
        <p:spPr>
          <a:xfrm>
            <a:off x="-368566" y="3509501"/>
            <a:ext cx="4110677" cy="1200329"/>
          </a:xfrm>
          <a:prstGeom prst="rect">
            <a:avLst/>
          </a:prstGeom>
        </p:spPr>
        <p:txBody>
          <a:bodyPr wrap="none">
            <a:spAutoFit/>
          </a:bodyPr>
          <a:lstStyle/>
          <a:p>
            <a:pPr marL="800100" lvl="1" indent="-342900">
              <a:buAutoNum type="arabicParenR"/>
            </a:pPr>
            <a:r>
              <a:rPr lang="en-IN" sz="1200" dirty="0" err="1"/>
              <a:t>ProfilePic</a:t>
            </a:r>
            <a:endParaRPr lang="en-IN" sz="1200" dirty="0"/>
          </a:p>
          <a:p>
            <a:pPr marL="800100" lvl="1" indent="-342900">
              <a:buAutoNum type="arabicParenR"/>
            </a:pPr>
            <a:r>
              <a:rPr lang="en-IN" sz="1200" dirty="0"/>
              <a:t>Stores Image URL</a:t>
            </a:r>
          </a:p>
          <a:p>
            <a:pPr marL="800100" lvl="1" indent="-342900">
              <a:buAutoNum type="arabicParenR"/>
            </a:pPr>
            <a:r>
              <a:rPr lang="en-IN" sz="1200" dirty="0"/>
              <a:t>Pass that URL to background process</a:t>
            </a:r>
          </a:p>
          <a:p>
            <a:pPr marL="1257300" lvl="2" indent="-342900">
              <a:buAutoNum type="arabicParenR"/>
            </a:pPr>
            <a:r>
              <a:rPr lang="en-IN" sz="1200" dirty="0"/>
              <a:t>Azure Web Jobs – App service plan </a:t>
            </a:r>
          </a:p>
          <a:p>
            <a:pPr marL="1257300" lvl="2" indent="-342900">
              <a:buAutoNum type="arabicParenR"/>
            </a:pPr>
            <a:r>
              <a:rPr lang="en-IN" sz="1200" dirty="0" err="1"/>
              <a:t>BitMap</a:t>
            </a:r>
            <a:r>
              <a:rPr lang="en-IN" sz="1200" dirty="0"/>
              <a:t> Resize code</a:t>
            </a:r>
          </a:p>
          <a:p>
            <a:pPr marL="1257300" lvl="2" indent="-342900">
              <a:buAutoNum type="arabicParenR"/>
            </a:pPr>
            <a:r>
              <a:rPr lang="en-IN" sz="1200" dirty="0"/>
              <a:t>Azure Cognitive Services – Compute Vision</a:t>
            </a:r>
          </a:p>
        </p:txBody>
      </p:sp>
      <p:cxnSp>
        <p:nvCxnSpPr>
          <p:cNvPr id="21" name="Straight Arrow Connector 20">
            <a:extLst>
              <a:ext uri="{FF2B5EF4-FFF2-40B4-BE49-F238E27FC236}">
                <a16:creationId xmlns:a16="http://schemas.microsoft.com/office/drawing/2014/main" id="{E06CC07B-9E63-4B91-B49D-28A592FC2D42}"/>
              </a:ext>
            </a:extLst>
          </p:cNvPr>
          <p:cNvCxnSpPr>
            <a:cxnSpLocks/>
          </p:cNvCxnSpPr>
          <p:nvPr/>
        </p:nvCxnSpPr>
        <p:spPr>
          <a:xfrm>
            <a:off x="421426" y="1106177"/>
            <a:ext cx="0" cy="2242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E6C219C9-7D29-451E-9136-9D32C32D1D6E}"/>
              </a:ext>
            </a:extLst>
          </p:cNvPr>
          <p:cNvCxnSpPr>
            <a:cxnSpLocks/>
            <a:stCxn id="5" idx="0"/>
          </p:cNvCxnSpPr>
          <p:nvPr/>
        </p:nvCxnSpPr>
        <p:spPr>
          <a:xfrm rot="16200000" flipV="1">
            <a:off x="4335263" y="1142260"/>
            <a:ext cx="1349405" cy="21720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3C5A420-B139-44C9-BF62-AD7958764EB7}"/>
              </a:ext>
            </a:extLst>
          </p:cNvPr>
          <p:cNvSpPr txBox="1"/>
          <p:nvPr/>
        </p:nvSpPr>
        <p:spPr>
          <a:xfrm>
            <a:off x="4665472" y="4412202"/>
            <a:ext cx="1595950" cy="369332"/>
          </a:xfrm>
          <a:prstGeom prst="rect">
            <a:avLst/>
          </a:prstGeom>
          <a:noFill/>
        </p:spPr>
        <p:txBody>
          <a:bodyPr wrap="none" rtlCol="0">
            <a:spAutoFit/>
          </a:bodyPr>
          <a:lstStyle/>
          <a:p>
            <a:r>
              <a:rPr lang="en-IN" dirty="0"/>
              <a:t>Azure Function</a:t>
            </a:r>
          </a:p>
        </p:txBody>
      </p:sp>
      <p:sp>
        <p:nvSpPr>
          <p:cNvPr id="29" name="TextBox 28">
            <a:extLst>
              <a:ext uri="{FF2B5EF4-FFF2-40B4-BE49-F238E27FC236}">
                <a16:creationId xmlns:a16="http://schemas.microsoft.com/office/drawing/2014/main" id="{DEA066FD-7243-496E-B8E6-962106379B3D}"/>
              </a:ext>
            </a:extLst>
          </p:cNvPr>
          <p:cNvSpPr txBox="1"/>
          <p:nvPr/>
        </p:nvSpPr>
        <p:spPr>
          <a:xfrm>
            <a:off x="4544188" y="3715063"/>
            <a:ext cx="1838517" cy="369332"/>
          </a:xfrm>
          <a:prstGeom prst="rect">
            <a:avLst/>
          </a:prstGeom>
          <a:noFill/>
        </p:spPr>
        <p:txBody>
          <a:bodyPr wrap="none" rtlCol="0">
            <a:spAutoFit/>
          </a:bodyPr>
          <a:lstStyle/>
          <a:p>
            <a:r>
              <a:rPr lang="en-IN" dirty="0"/>
              <a:t>Azure Service Bus</a:t>
            </a:r>
          </a:p>
        </p:txBody>
      </p:sp>
      <p:cxnSp>
        <p:nvCxnSpPr>
          <p:cNvPr id="30" name="Straight Arrow Connector 29">
            <a:extLst>
              <a:ext uri="{FF2B5EF4-FFF2-40B4-BE49-F238E27FC236}">
                <a16:creationId xmlns:a16="http://schemas.microsoft.com/office/drawing/2014/main" id="{D5B41B59-5C11-4E5D-B73E-0B48EDD8FC70}"/>
              </a:ext>
            </a:extLst>
          </p:cNvPr>
          <p:cNvCxnSpPr/>
          <p:nvPr/>
        </p:nvCxnSpPr>
        <p:spPr>
          <a:xfrm>
            <a:off x="5482328" y="3233262"/>
            <a:ext cx="0" cy="39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2EE2440-6129-4DAD-91DE-A999F590145D}"/>
              </a:ext>
            </a:extLst>
          </p:cNvPr>
          <p:cNvCxnSpPr/>
          <p:nvPr/>
        </p:nvCxnSpPr>
        <p:spPr>
          <a:xfrm>
            <a:off x="5463447" y="4077934"/>
            <a:ext cx="0" cy="39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556F216-BA7D-4D9C-84B0-5DF282043963}"/>
              </a:ext>
            </a:extLst>
          </p:cNvPr>
          <p:cNvSpPr txBox="1"/>
          <p:nvPr/>
        </p:nvSpPr>
        <p:spPr>
          <a:xfrm>
            <a:off x="4223564" y="5137945"/>
            <a:ext cx="2517528" cy="923330"/>
          </a:xfrm>
          <a:prstGeom prst="rect">
            <a:avLst/>
          </a:prstGeom>
          <a:noFill/>
        </p:spPr>
        <p:txBody>
          <a:bodyPr wrap="square" rtlCol="0">
            <a:spAutoFit/>
          </a:bodyPr>
          <a:lstStyle/>
          <a:p>
            <a:r>
              <a:rPr lang="en-IN" dirty="0"/>
              <a:t>Code SendGrid services</a:t>
            </a:r>
          </a:p>
          <a:p>
            <a:r>
              <a:rPr lang="en-IN" dirty="0"/>
              <a:t>Welcome email to end user</a:t>
            </a:r>
          </a:p>
        </p:txBody>
      </p:sp>
      <p:cxnSp>
        <p:nvCxnSpPr>
          <p:cNvPr id="3" name="Connector: Elbow 2">
            <a:extLst>
              <a:ext uri="{FF2B5EF4-FFF2-40B4-BE49-F238E27FC236}">
                <a16:creationId xmlns:a16="http://schemas.microsoft.com/office/drawing/2014/main" id="{45383967-9B6D-449C-B98E-6FA7D236FBCE}"/>
              </a:ext>
            </a:extLst>
          </p:cNvPr>
          <p:cNvCxnSpPr>
            <a:stCxn id="5" idx="3"/>
            <a:endCxn id="14" idx="2"/>
          </p:cNvCxnSpPr>
          <p:nvPr/>
        </p:nvCxnSpPr>
        <p:spPr>
          <a:xfrm flipV="1">
            <a:off x="7529744" y="2227338"/>
            <a:ext cx="2847636" cy="8603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Can 1">
            <a:extLst>
              <a:ext uri="{FF2B5EF4-FFF2-40B4-BE49-F238E27FC236}">
                <a16:creationId xmlns:a16="http://schemas.microsoft.com/office/drawing/2014/main" id="{CADA5CF7-9E22-4E58-27DD-05A6BD3607B2}"/>
              </a:ext>
            </a:extLst>
          </p:cNvPr>
          <p:cNvSpPr/>
          <p:nvPr/>
        </p:nvSpPr>
        <p:spPr>
          <a:xfrm>
            <a:off x="794117" y="4875350"/>
            <a:ext cx="1092819" cy="158155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SQL DB</a:t>
            </a:r>
          </a:p>
        </p:txBody>
      </p:sp>
    </p:spTree>
    <p:extLst>
      <p:ext uri="{BB962C8B-B14F-4D97-AF65-F5344CB8AC3E}">
        <p14:creationId xmlns:p14="http://schemas.microsoft.com/office/powerpoint/2010/main" val="3153591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zure Patterns Collection">
            <a:extLst>
              <a:ext uri="{FF2B5EF4-FFF2-40B4-BE49-F238E27FC236}">
                <a16:creationId xmlns:a16="http://schemas.microsoft.com/office/drawing/2014/main" id="{7F30F38D-1FD3-42E5-A1A4-BF836F2D5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6674" y="1398219"/>
            <a:ext cx="1089317" cy="108931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eep Dive into Azure AD and AWS SSO Integration – Part 4 | Journey ...">
            <a:extLst>
              <a:ext uri="{FF2B5EF4-FFF2-40B4-BE49-F238E27FC236}">
                <a16:creationId xmlns:a16="http://schemas.microsoft.com/office/drawing/2014/main" id="{99202D87-3FC3-4EC2-BBE4-8FCF87D903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28" t="11807" r="13799" b="12415"/>
          <a:stretch/>
        </p:blipFill>
        <p:spPr bwMode="auto">
          <a:xfrm>
            <a:off x="3888097" y="3022824"/>
            <a:ext cx="686470" cy="70133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zure Storage Resources | Wake Up And Code!">
            <a:extLst>
              <a:ext uri="{FF2B5EF4-FFF2-40B4-BE49-F238E27FC236}">
                <a16:creationId xmlns:a16="http://schemas.microsoft.com/office/drawing/2014/main" id="{EA49C61B-0B20-4AC5-A28C-6B3BDE8BA3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427" t="19561" r="50424" b="27821"/>
          <a:stretch/>
        </p:blipFill>
        <p:spPr bwMode="auto">
          <a:xfrm>
            <a:off x="7720936" y="1589993"/>
            <a:ext cx="2462767" cy="16898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F45BAF-403C-4FD5-BD5E-578E6295E923}"/>
              </a:ext>
            </a:extLst>
          </p:cNvPr>
          <p:cNvSpPr txBox="1"/>
          <p:nvPr/>
        </p:nvSpPr>
        <p:spPr>
          <a:xfrm>
            <a:off x="204187" y="88776"/>
            <a:ext cx="2881366" cy="369332"/>
          </a:xfrm>
          <a:prstGeom prst="rect">
            <a:avLst/>
          </a:prstGeom>
          <a:noFill/>
        </p:spPr>
        <p:txBody>
          <a:bodyPr wrap="none" rtlCol="0">
            <a:spAutoFit/>
          </a:bodyPr>
          <a:lstStyle/>
          <a:p>
            <a:r>
              <a:rPr lang="en-IN" dirty="0"/>
              <a:t>Emp Information Application</a:t>
            </a:r>
          </a:p>
        </p:txBody>
      </p:sp>
      <p:sp>
        <p:nvSpPr>
          <p:cNvPr id="6" name="Rectangle 5">
            <a:extLst>
              <a:ext uri="{FF2B5EF4-FFF2-40B4-BE49-F238E27FC236}">
                <a16:creationId xmlns:a16="http://schemas.microsoft.com/office/drawing/2014/main" id="{8F40BC93-F7CE-4C02-9B78-653B344AB600}"/>
              </a:ext>
            </a:extLst>
          </p:cNvPr>
          <p:cNvSpPr/>
          <p:nvPr/>
        </p:nvSpPr>
        <p:spPr>
          <a:xfrm>
            <a:off x="7090621" y="1081747"/>
            <a:ext cx="3542191" cy="257452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53E4F2F-A9C4-4413-8EAE-2A964D522225}"/>
              </a:ext>
            </a:extLst>
          </p:cNvPr>
          <p:cNvSpPr txBox="1"/>
          <p:nvPr/>
        </p:nvSpPr>
        <p:spPr>
          <a:xfrm>
            <a:off x="6971336" y="435416"/>
            <a:ext cx="3961966" cy="646331"/>
          </a:xfrm>
          <a:prstGeom prst="rect">
            <a:avLst/>
          </a:prstGeom>
          <a:noFill/>
        </p:spPr>
        <p:txBody>
          <a:bodyPr wrap="square" rtlCol="0">
            <a:spAutoFit/>
          </a:bodyPr>
          <a:lstStyle/>
          <a:p>
            <a:r>
              <a:rPr lang="en-IN" dirty="0"/>
              <a:t>Azure Storage: Access Key in Application to store data</a:t>
            </a:r>
          </a:p>
        </p:txBody>
      </p:sp>
      <p:pic>
        <p:nvPicPr>
          <p:cNvPr id="1036" name="Picture 12" descr="User icon">
            <a:extLst>
              <a:ext uri="{FF2B5EF4-FFF2-40B4-BE49-F238E27FC236}">
                <a16:creationId xmlns:a16="http://schemas.microsoft.com/office/drawing/2014/main" id="{B26736C5-85AD-46BF-B2AD-D6F3487992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7" y="1463197"/>
            <a:ext cx="959360" cy="95936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DEDF13D4-24B3-4458-B003-AC2329F3CB7C}"/>
              </a:ext>
            </a:extLst>
          </p:cNvPr>
          <p:cNvCxnSpPr>
            <a:cxnSpLocks/>
            <a:stCxn id="1036" idx="3"/>
          </p:cNvCxnSpPr>
          <p:nvPr/>
        </p:nvCxnSpPr>
        <p:spPr>
          <a:xfrm>
            <a:off x="1568967" y="1942877"/>
            <a:ext cx="1884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F7F9A08-D1EE-4A62-A958-FC5305BAF057}"/>
              </a:ext>
            </a:extLst>
          </p:cNvPr>
          <p:cNvCxnSpPr>
            <a:cxnSpLocks/>
            <a:stCxn id="1026" idx="2"/>
          </p:cNvCxnSpPr>
          <p:nvPr/>
        </p:nvCxnSpPr>
        <p:spPr>
          <a:xfrm>
            <a:off x="4231333" y="2487536"/>
            <a:ext cx="0" cy="535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4975C97-0794-4968-95C8-082B43B0AA28}"/>
              </a:ext>
            </a:extLst>
          </p:cNvPr>
          <p:cNvCxnSpPr>
            <a:cxnSpLocks/>
            <a:stCxn id="1026" idx="3"/>
          </p:cNvCxnSpPr>
          <p:nvPr/>
        </p:nvCxnSpPr>
        <p:spPr>
          <a:xfrm>
            <a:off x="4775991" y="1942878"/>
            <a:ext cx="23146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7F019AE-A6E9-484C-A578-691759D375F5}"/>
              </a:ext>
            </a:extLst>
          </p:cNvPr>
          <p:cNvSpPr txBox="1"/>
          <p:nvPr/>
        </p:nvSpPr>
        <p:spPr>
          <a:xfrm>
            <a:off x="4790089" y="1333373"/>
            <a:ext cx="2300532" cy="646331"/>
          </a:xfrm>
          <a:prstGeom prst="rect">
            <a:avLst/>
          </a:prstGeom>
          <a:noFill/>
        </p:spPr>
        <p:txBody>
          <a:bodyPr wrap="square" rtlCol="0">
            <a:spAutoFit/>
          </a:bodyPr>
          <a:lstStyle/>
          <a:p>
            <a:r>
              <a:rPr lang="en-IN" dirty="0"/>
              <a:t>Can be running on local host</a:t>
            </a:r>
          </a:p>
        </p:txBody>
      </p:sp>
      <p:sp>
        <p:nvSpPr>
          <p:cNvPr id="19" name="TextBox 18">
            <a:extLst>
              <a:ext uri="{FF2B5EF4-FFF2-40B4-BE49-F238E27FC236}">
                <a16:creationId xmlns:a16="http://schemas.microsoft.com/office/drawing/2014/main" id="{7B130602-0266-48DD-9A30-BE6C7830BFC0}"/>
              </a:ext>
            </a:extLst>
          </p:cNvPr>
          <p:cNvSpPr txBox="1"/>
          <p:nvPr/>
        </p:nvSpPr>
        <p:spPr>
          <a:xfrm>
            <a:off x="6971336" y="4001134"/>
            <a:ext cx="5182118" cy="1754326"/>
          </a:xfrm>
          <a:prstGeom prst="rect">
            <a:avLst/>
          </a:prstGeom>
          <a:solidFill>
            <a:schemeClr val="accent1">
              <a:lumMod val="40000"/>
              <a:lumOff val="60000"/>
            </a:schemeClr>
          </a:solidFill>
        </p:spPr>
        <p:txBody>
          <a:bodyPr wrap="square" rtlCol="0">
            <a:spAutoFit/>
          </a:bodyPr>
          <a:lstStyle/>
          <a:p>
            <a:r>
              <a:rPr lang="en-IN" dirty="0"/>
              <a:t>Azure AD</a:t>
            </a:r>
          </a:p>
          <a:p>
            <a:pPr marL="342900" indent="-342900">
              <a:buFont typeface="+mj-lt"/>
              <a:buAutoNum type="arabicPeriod"/>
            </a:pPr>
            <a:r>
              <a:rPr lang="en-IN" dirty="0"/>
              <a:t>Create Active directory as a service</a:t>
            </a:r>
          </a:p>
          <a:p>
            <a:pPr marL="342900" indent="-342900">
              <a:buFont typeface="+mj-lt"/>
              <a:buAutoNum type="arabicPeriod"/>
            </a:pPr>
            <a:r>
              <a:rPr lang="en-IN" dirty="0"/>
              <a:t>App Registration – register your App and provide client/application id</a:t>
            </a:r>
          </a:p>
          <a:p>
            <a:pPr marL="342900" indent="-342900">
              <a:buFont typeface="+mj-lt"/>
              <a:buAutoNum type="arabicPeriod"/>
            </a:pPr>
            <a:r>
              <a:rPr lang="en-IN" dirty="0"/>
              <a:t>Use client ID/App ID and register your application for using Microsoft as identity provider</a:t>
            </a:r>
          </a:p>
        </p:txBody>
      </p:sp>
      <p:sp>
        <p:nvSpPr>
          <p:cNvPr id="22" name="TextBox 21">
            <a:extLst>
              <a:ext uri="{FF2B5EF4-FFF2-40B4-BE49-F238E27FC236}">
                <a16:creationId xmlns:a16="http://schemas.microsoft.com/office/drawing/2014/main" id="{ED40B57B-80F7-4EFD-B30A-57A189038F79}"/>
              </a:ext>
            </a:extLst>
          </p:cNvPr>
          <p:cNvSpPr txBox="1"/>
          <p:nvPr/>
        </p:nvSpPr>
        <p:spPr>
          <a:xfrm>
            <a:off x="155774" y="4014550"/>
            <a:ext cx="6704254" cy="1754326"/>
          </a:xfrm>
          <a:prstGeom prst="rect">
            <a:avLst/>
          </a:prstGeom>
          <a:solidFill>
            <a:schemeClr val="accent1">
              <a:lumMod val="20000"/>
              <a:lumOff val="80000"/>
            </a:schemeClr>
          </a:solidFill>
        </p:spPr>
        <p:txBody>
          <a:bodyPr wrap="square" rtlCol="0">
            <a:spAutoFit/>
          </a:bodyPr>
          <a:lstStyle/>
          <a:p>
            <a:r>
              <a:rPr lang="en-IN" dirty="0"/>
              <a:t>Application Level Configuration</a:t>
            </a:r>
          </a:p>
          <a:p>
            <a:pPr marL="342900" indent="-342900">
              <a:buFont typeface="+mj-lt"/>
              <a:buAutoNum type="arabicPeriod"/>
            </a:pPr>
            <a:r>
              <a:rPr lang="en-IN" dirty="0"/>
              <a:t>Convert simple application to SSL driven and make it https enabled</a:t>
            </a:r>
          </a:p>
          <a:p>
            <a:pPr marL="342900" indent="-342900">
              <a:buFont typeface="+mj-lt"/>
              <a:buAutoNum type="arabicPeriod"/>
            </a:pPr>
            <a:r>
              <a:rPr lang="en-IN" dirty="0"/>
              <a:t>Manage </a:t>
            </a:r>
            <a:r>
              <a:rPr lang="en-IN" dirty="0" err="1"/>
              <a:t>nuget</a:t>
            </a:r>
            <a:r>
              <a:rPr lang="en-IN" dirty="0"/>
              <a:t> packages related OWIN – </a:t>
            </a:r>
            <a:r>
              <a:rPr lang="en-IN" dirty="0" err="1"/>
              <a:t>OpenIdConnect</a:t>
            </a:r>
            <a:r>
              <a:rPr lang="en-IN" dirty="0"/>
              <a:t> </a:t>
            </a:r>
          </a:p>
          <a:p>
            <a:pPr marL="342900" indent="-342900">
              <a:buFont typeface="+mj-lt"/>
              <a:buAutoNum type="arabicPeriod"/>
            </a:pPr>
            <a:r>
              <a:rPr lang="en-IN" dirty="0"/>
              <a:t>Write code to perform single sign related activities</a:t>
            </a:r>
          </a:p>
          <a:p>
            <a:pPr marL="342900" indent="-342900">
              <a:buFont typeface="+mj-lt"/>
              <a:buAutoNum type="arabicPeriod"/>
            </a:pPr>
            <a:r>
              <a:rPr lang="en-IN" dirty="0"/>
              <a:t>Embed Azure AD configuration to application </a:t>
            </a:r>
          </a:p>
        </p:txBody>
      </p:sp>
      <p:sp>
        <p:nvSpPr>
          <p:cNvPr id="23" name="Rectangle 22">
            <a:extLst>
              <a:ext uri="{FF2B5EF4-FFF2-40B4-BE49-F238E27FC236}">
                <a16:creationId xmlns:a16="http://schemas.microsoft.com/office/drawing/2014/main" id="{2D872811-7A5E-4596-AB21-3AF6B3883603}"/>
              </a:ext>
            </a:extLst>
          </p:cNvPr>
          <p:cNvSpPr/>
          <p:nvPr/>
        </p:nvSpPr>
        <p:spPr>
          <a:xfrm>
            <a:off x="88777" y="5790421"/>
            <a:ext cx="5379134" cy="830997"/>
          </a:xfrm>
          <a:prstGeom prst="rect">
            <a:avLst/>
          </a:prstGeom>
        </p:spPr>
        <p:txBody>
          <a:bodyPr wrap="square">
            <a:spAutoFit/>
          </a:bodyPr>
          <a:lstStyle/>
          <a:p>
            <a:r>
              <a:rPr lang="en-IN" sz="1200" dirty="0"/>
              <a:t>&lt;add key="</a:t>
            </a:r>
            <a:r>
              <a:rPr lang="en-IN" sz="1200" dirty="0" err="1"/>
              <a:t>ida:ClientId</a:t>
            </a:r>
            <a:r>
              <a:rPr lang="en-IN" sz="1200" dirty="0"/>
              <a:t>" value="b82bd13a-64ea-4d27-ad2a-605fae4bb4e0" /&gt;</a:t>
            </a:r>
          </a:p>
          <a:p>
            <a:r>
              <a:rPr lang="en-IN" sz="1200" dirty="0"/>
              <a:t>&lt;add key="</a:t>
            </a:r>
            <a:r>
              <a:rPr lang="en-IN" sz="1200" dirty="0" err="1"/>
              <a:t>ida:Tenant</a:t>
            </a:r>
            <a:r>
              <a:rPr lang="en-IN" sz="1200" dirty="0"/>
              <a:t>" value="empdirectoryapp.onmicrosoft.com" /&gt;</a:t>
            </a:r>
          </a:p>
          <a:p>
            <a:r>
              <a:rPr lang="en-IN" sz="1200" dirty="0"/>
              <a:t>&lt;add key="</a:t>
            </a:r>
            <a:r>
              <a:rPr lang="en-IN" sz="1200" dirty="0" err="1"/>
              <a:t>ida:AADInstance</a:t>
            </a:r>
            <a:r>
              <a:rPr lang="en-IN" sz="1200" dirty="0"/>
              <a:t>" value="https://login.microsoftonline.com/{0}/v2.0" /&gt;</a:t>
            </a:r>
          </a:p>
          <a:p>
            <a:r>
              <a:rPr lang="en-IN" sz="1200" dirty="0"/>
              <a:t>&lt;add key="</a:t>
            </a:r>
            <a:r>
              <a:rPr lang="en-IN" sz="1200" dirty="0" err="1"/>
              <a:t>ida:PostLogoutRedirectUri</a:t>
            </a:r>
            <a:r>
              <a:rPr lang="en-IN" sz="1200" dirty="0"/>
              <a:t>" value="https://localhost:44384/" /&gt;</a:t>
            </a:r>
          </a:p>
        </p:txBody>
      </p:sp>
      <p:sp>
        <p:nvSpPr>
          <p:cNvPr id="24" name="Oval 23">
            <a:extLst>
              <a:ext uri="{FF2B5EF4-FFF2-40B4-BE49-F238E27FC236}">
                <a16:creationId xmlns:a16="http://schemas.microsoft.com/office/drawing/2014/main" id="{7CA3464E-2638-4FD3-882B-459637349F68}"/>
              </a:ext>
            </a:extLst>
          </p:cNvPr>
          <p:cNvSpPr/>
          <p:nvPr/>
        </p:nvSpPr>
        <p:spPr>
          <a:xfrm>
            <a:off x="1020219" y="1020941"/>
            <a:ext cx="351825" cy="3772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cxnSp>
        <p:nvCxnSpPr>
          <p:cNvPr id="26" name="Connector: Elbow 25">
            <a:extLst>
              <a:ext uri="{FF2B5EF4-FFF2-40B4-BE49-F238E27FC236}">
                <a16:creationId xmlns:a16="http://schemas.microsoft.com/office/drawing/2014/main" id="{A633DAD9-E745-486B-80A3-63DC37CFB1D3}"/>
              </a:ext>
            </a:extLst>
          </p:cNvPr>
          <p:cNvCxnSpPr>
            <a:stCxn id="1036" idx="2"/>
          </p:cNvCxnSpPr>
          <p:nvPr/>
        </p:nvCxnSpPr>
        <p:spPr>
          <a:xfrm rot="16200000" flipH="1">
            <a:off x="1936805" y="1575039"/>
            <a:ext cx="1006443" cy="270147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B92427B-A4D4-4B50-B765-A055592D19DB}"/>
              </a:ext>
            </a:extLst>
          </p:cNvPr>
          <p:cNvSpPr txBox="1"/>
          <p:nvPr/>
        </p:nvSpPr>
        <p:spPr>
          <a:xfrm>
            <a:off x="959732" y="3423618"/>
            <a:ext cx="2879699" cy="307777"/>
          </a:xfrm>
          <a:prstGeom prst="rect">
            <a:avLst/>
          </a:prstGeom>
          <a:noFill/>
        </p:spPr>
        <p:txBody>
          <a:bodyPr wrap="none" rtlCol="0">
            <a:spAutoFit/>
          </a:bodyPr>
          <a:lstStyle/>
          <a:p>
            <a:r>
              <a:rPr lang="en-IN" sz="1400" dirty="0"/>
              <a:t>Register User in AD for Single Sign on</a:t>
            </a:r>
          </a:p>
        </p:txBody>
      </p:sp>
      <p:sp>
        <p:nvSpPr>
          <p:cNvPr id="33" name="Oval 32">
            <a:extLst>
              <a:ext uri="{FF2B5EF4-FFF2-40B4-BE49-F238E27FC236}">
                <a16:creationId xmlns:a16="http://schemas.microsoft.com/office/drawing/2014/main" id="{0525D625-23F9-4A37-9D67-FF16DD55576A}"/>
              </a:ext>
            </a:extLst>
          </p:cNvPr>
          <p:cNvSpPr/>
          <p:nvPr/>
        </p:nvSpPr>
        <p:spPr>
          <a:xfrm>
            <a:off x="3995777" y="910991"/>
            <a:ext cx="351825" cy="3772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34" name="Oval 33">
            <a:extLst>
              <a:ext uri="{FF2B5EF4-FFF2-40B4-BE49-F238E27FC236}">
                <a16:creationId xmlns:a16="http://schemas.microsoft.com/office/drawing/2014/main" id="{A56F55A7-28FF-485F-A049-34A18D8DBFCB}"/>
              </a:ext>
            </a:extLst>
          </p:cNvPr>
          <p:cNvSpPr/>
          <p:nvPr/>
        </p:nvSpPr>
        <p:spPr>
          <a:xfrm>
            <a:off x="4647007" y="3200228"/>
            <a:ext cx="351825" cy="3772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Tree>
    <p:extLst>
      <p:ext uri="{BB962C8B-B14F-4D97-AF65-F5344CB8AC3E}">
        <p14:creationId xmlns:p14="http://schemas.microsoft.com/office/powerpoint/2010/main" val="1629319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D6BE-BD8D-441B-9D5A-BD54EED03CDB}"/>
              </a:ext>
            </a:extLst>
          </p:cNvPr>
          <p:cNvSpPr>
            <a:spLocks noGrp="1"/>
          </p:cNvSpPr>
          <p:nvPr>
            <p:ph type="title"/>
          </p:nvPr>
        </p:nvSpPr>
        <p:spPr>
          <a:xfrm>
            <a:off x="0" y="0"/>
            <a:ext cx="12192000" cy="1029810"/>
          </a:xfrm>
        </p:spPr>
        <p:txBody>
          <a:bodyPr>
            <a:normAutofit fontScale="90000"/>
          </a:bodyPr>
          <a:lstStyle/>
          <a:p>
            <a:r>
              <a:rPr lang="en-IN" dirty="0"/>
              <a:t>iPaaS –  Azure Logic Apps</a:t>
            </a:r>
            <a:br>
              <a:rPr lang="en-IN" dirty="0"/>
            </a:br>
            <a:r>
              <a:rPr lang="en-IN" dirty="0"/>
              <a:t>Workflow Driven solution</a:t>
            </a:r>
          </a:p>
        </p:txBody>
      </p:sp>
      <p:sp>
        <p:nvSpPr>
          <p:cNvPr id="4" name="TextBox 3">
            <a:extLst>
              <a:ext uri="{FF2B5EF4-FFF2-40B4-BE49-F238E27FC236}">
                <a16:creationId xmlns:a16="http://schemas.microsoft.com/office/drawing/2014/main" id="{A841A3AD-9C0B-4D08-85AD-1EF2D3B94715}"/>
              </a:ext>
            </a:extLst>
          </p:cNvPr>
          <p:cNvSpPr txBox="1"/>
          <p:nvPr/>
        </p:nvSpPr>
        <p:spPr>
          <a:xfrm>
            <a:off x="5344358" y="1010344"/>
            <a:ext cx="1093569" cy="369332"/>
          </a:xfrm>
          <a:prstGeom prst="rect">
            <a:avLst/>
          </a:prstGeom>
          <a:noFill/>
        </p:spPr>
        <p:txBody>
          <a:bodyPr wrap="none" rtlCol="0">
            <a:spAutoFit/>
          </a:bodyPr>
          <a:lstStyle/>
          <a:p>
            <a:r>
              <a:rPr lang="en-IN" dirty="0"/>
              <a:t>Logic App</a:t>
            </a:r>
          </a:p>
        </p:txBody>
      </p:sp>
      <p:sp>
        <p:nvSpPr>
          <p:cNvPr id="5" name="TextBox 4">
            <a:extLst>
              <a:ext uri="{FF2B5EF4-FFF2-40B4-BE49-F238E27FC236}">
                <a16:creationId xmlns:a16="http://schemas.microsoft.com/office/drawing/2014/main" id="{7D86CB3C-A2B6-49F6-A58A-89E818B9D720}"/>
              </a:ext>
            </a:extLst>
          </p:cNvPr>
          <p:cNvSpPr txBox="1"/>
          <p:nvPr/>
        </p:nvSpPr>
        <p:spPr>
          <a:xfrm>
            <a:off x="3817850" y="1663762"/>
            <a:ext cx="1526508" cy="369332"/>
          </a:xfrm>
          <a:prstGeom prst="rect">
            <a:avLst/>
          </a:prstGeom>
          <a:noFill/>
        </p:spPr>
        <p:txBody>
          <a:bodyPr wrap="none" rtlCol="0">
            <a:spAutoFit/>
          </a:bodyPr>
          <a:lstStyle/>
          <a:p>
            <a:r>
              <a:rPr lang="en-IN" dirty="0"/>
              <a:t>Designer View</a:t>
            </a:r>
          </a:p>
        </p:txBody>
      </p:sp>
      <p:sp>
        <p:nvSpPr>
          <p:cNvPr id="6" name="TextBox 5">
            <a:extLst>
              <a:ext uri="{FF2B5EF4-FFF2-40B4-BE49-F238E27FC236}">
                <a16:creationId xmlns:a16="http://schemas.microsoft.com/office/drawing/2014/main" id="{9A5D47EA-1CF3-4D1D-A2B8-8A7E0A7C641C}"/>
              </a:ext>
            </a:extLst>
          </p:cNvPr>
          <p:cNvSpPr txBox="1"/>
          <p:nvPr/>
        </p:nvSpPr>
        <p:spPr>
          <a:xfrm>
            <a:off x="6367221" y="1663762"/>
            <a:ext cx="1183786" cy="369332"/>
          </a:xfrm>
          <a:prstGeom prst="rect">
            <a:avLst/>
          </a:prstGeom>
          <a:noFill/>
        </p:spPr>
        <p:txBody>
          <a:bodyPr wrap="none" rtlCol="0">
            <a:spAutoFit/>
          </a:bodyPr>
          <a:lstStyle/>
          <a:p>
            <a:r>
              <a:rPr lang="en-IN" dirty="0"/>
              <a:t>Code View</a:t>
            </a:r>
          </a:p>
        </p:txBody>
      </p:sp>
      <p:cxnSp>
        <p:nvCxnSpPr>
          <p:cNvPr id="8" name="Connector: Elbow 7">
            <a:extLst>
              <a:ext uri="{FF2B5EF4-FFF2-40B4-BE49-F238E27FC236}">
                <a16:creationId xmlns:a16="http://schemas.microsoft.com/office/drawing/2014/main" id="{2271D52A-82CF-40CA-B59F-77A20E2E5734}"/>
              </a:ext>
            </a:extLst>
          </p:cNvPr>
          <p:cNvCxnSpPr>
            <a:stCxn id="4" idx="2"/>
            <a:endCxn id="5" idx="0"/>
          </p:cNvCxnSpPr>
          <p:nvPr/>
        </p:nvCxnSpPr>
        <p:spPr>
          <a:xfrm rot="5400000">
            <a:off x="5094081" y="866700"/>
            <a:ext cx="284086" cy="13100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98D90F0D-98B0-43D7-B468-79EF839CDCE3}"/>
              </a:ext>
            </a:extLst>
          </p:cNvPr>
          <p:cNvCxnSpPr>
            <a:stCxn id="4" idx="2"/>
            <a:endCxn id="6" idx="0"/>
          </p:cNvCxnSpPr>
          <p:nvPr/>
        </p:nvCxnSpPr>
        <p:spPr>
          <a:xfrm rot="16200000" flipH="1">
            <a:off x="6283085" y="987733"/>
            <a:ext cx="284086" cy="10679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F0843B-BB3B-47F4-B2DC-06399981385E}"/>
              </a:ext>
            </a:extLst>
          </p:cNvPr>
          <p:cNvSpPr txBox="1"/>
          <p:nvPr/>
        </p:nvSpPr>
        <p:spPr>
          <a:xfrm>
            <a:off x="4292050" y="2173149"/>
            <a:ext cx="3364191" cy="646331"/>
          </a:xfrm>
          <a:prstGeom prst="rect">
            <a:avLst/>
          </a:prstGeom>
          <a:noFill/>
        </p:spPr>
        <p:txBody>
          <a:bodyPr wrap="none" rtlCol="0">
            <a:spAutoFit/>
          </a:bodyPr>
          <a:lstStyle/>
          <a:p>
            <a:pPr algn="ctr"/>
            <a:r>
              <a:rPr lang="en-IN" dirty="0"/>
              <a:t>Pre-defined Triggers – Poll/push</a:t>
            </a:r>
          </a:p>
          <a:p>
            <a:pPr algn="ctr"/>
            <a:r>
              <a:rPr lang="en-IN" dirty="0"/>
              <a:t>Varity protocols to connect with it</a:t>
            </a:r>
          </a:p>
        </p:txBody>
      </p:sp>
      <p:sp>
        <p:nvSpPr>
          <p:cNvPr id="12" name="Rectangle 11">
            <a:extLst>
              <a:ext uri="{FF2B5EF4-FFF2-40B4-BE49-F238E27FC236}">
                <a16:creationId xmlns:a16="http://schemas.microsoft.com/office/drawing/2014/main" id="{522A5B98-C864-41E5-8116-77FCB27F332C}"/>
              </a:ext>
            </a:extLst>
          </p:cNvPr>
          <p:cNvSpPr/>
          <p:nvPr/>
        </p:nvSpPr>
        <p:spPr>
          <a:xfrm>
            <a:off x="209981" y="3274150"/>
            <a:ext cx="3101391" cy="3273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2196A7C7-77C4-41C0-884A-42636FEFCAFC}"/>
              </a:ext>
            </a:extLst>
          </p:cNvPr>
          <p:cNvSpPr txBox="1"/>
          <p:nvPr/>
        </p:nvSpPr>
        <p:spPr>
          <a:xfrm>
            <a:off x="8353888" y="79899"/>
            <a:ext cx="3604334" cy="646331"/>
          </a:xfrm>
          <a:prstGeom prst="rect">
            <a:avLst/>
          </a:prstGeom>
          <a:noFill/>
        </p:spPr>
        <p:txBody>
          <a:bodyPr wrap="square" rtlCol="0">
            <a:spAutoFit/>
          </a:bodyPr>
          <a:lstStyle/>
          <a:p>
            <a:r>
              <a:rPr lang="en-IN" dirty="0"/>
              <a:t>Design B2B Scenario – Automate User creation in AD</a:t>
            </a:r>
          </a:p>
        </p:txBody>
      </p:sp>
      <p:sp>
        <p:nvSpPr>
          <p:cNvPr id="14" name="Rectangle 13">
            <a:extLst>
              <a:ext uri="{FF2B5EF4-FFF2-40B4-BE49-F238E27FC236}">
                <a16:creationId xmlns:a16="http://schemas.microsoft.com/office/drawing/2014/main" id="{9B4B16BA-02C5-40CB-B721-953C244FC512}"/>
              </a:ext>
            </a:extLst>
          </p:cNvPr>
          <p:cNvSpPr/>
          <p:nvPr/>
        </p:nvSpPr>
        <p:spPr>
          <a:xfrm>
            <a:off x="1056443" y="3737500"/>
            <a:ext cx="2068497" cy="33735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5" name="Rectangle 14">
            <a:extLst>
              <a:ext uri="{FF2B5EF4-FFF2-40B4-BE49-F238E27FC236}">
                <a16:creationId xmlns:a16="http://schemas.microsoft.com/office/drawing/2014/main" id="{81FD499C-FC71-4A45-AAD9-7E7B1406C009}"/>
              </a:ext>
            </a:extLst>
          </p:cNvPr>
          <p:cNvSpPr/>
          <p:nvPr/>
        </p:nvSpPr>
        <p:spPr>
          <a:xfrm>
            <a:off x="1056442" y="4271639"/>
            <a:ext cx="2068497" cy="33735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6241F922-147D-4FEB-AAEE-FDFB39C4FA46}"/>
              </a:ext>
            </a:extLst>
          </p:cNvPr>
          <p:cNvSpPr/>
          <p:nvPr/>
        </p:nvSpPr>
        <p:spPr>
          <a:xfrm>
            <a:off x="1056441" y="4805778"/>
            <a:ext cx="2068497" cy="33735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B539535D-7503-4095-8C19-AA0E748F4A3C}"/>
              </a:ext>
            </a:extLst>
          </p:cNvPr>
          <p:cNvSpPr/>
          <p:nvPr/>
        </p:nvSpPr>
        <p:spPr>
          <a:xfrm>
            <a:off x="1056440" y="5339917"/>
            <a:ext cx="2068497" cy="33735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8" name="TextBox 17">
            <a:extLst>
              <a:ext uri="{FF2B5EF4-FFF2-40B4-BE49-F238E27FC236}">
                <a16:creationId xmlns:a16="http://schemas.microsoft.com/office/drawing/2014/main" id="{5B6842ED-0818-43EF-9AD8-DEC763EC7C7A}"/>
              </a:ext>
            </a:extLst>
          </p:cNvPr>
          <p:cNvSpPr txBox="1"/>
          <p:nvPr/>
        </p:nvSpPr>
        <p:spPr>
          <a:xfrm>
            <a:off x="209981" y="3705519"/>
            <a:ext cx="902811" cy="369332"/>
          </a:xfrm>
          <a:prstGeom prst="rect">
            <a:avLst/>
          </a:prstGeom>
          <a:noFill/>
        </p:spPr>
        <p:txBody>
          <a:bodyPr wrap="none" rtlCol="0">
            <a:spAutoFit/>
          </a:bodyPr>
          <a:lstStyle/>
          <a:p>
            <a:r>
              <a:rPr lang="en-IN" dirty="0"/>
              <a:t>F Name</a:t>
            </a:r>
          </a:p>
        </p:txBody>
      </p:sp>
      <p:sp>
        <p:nvSpPr>
          <p:cNvPr id="19" name="TextBox 18">
            <a:extLst>
              <a:ext uri="{FF2B5EF4-FFF2-40B4-BE49-F238E27FC236}">
                <a16:creationId xmlns:a16="http://schemas.microsoft.com/office/drawing/2014/main" id="{26E4D3E8-2FD0-417C-87B7-26BB3184C92B}"/>
              </a:ext>
            </a:extLst>
          </p:cNvPr>
          <p:cNvSpPr txBox="1"/>
          <p:nvPr/>
        </p:nvSpPr>
        <p:spPr>
          <a:xfrm>
            <a:off x="227734" y="4223184"/>
            <a:ext cx="894797" cy="369332"/>
          </a:xfrm>
          <a:prstGeom prst="rect">
            <a:avLst/>
          </a:prstGeom>
          <a:noFill/>
        </p:spPr>
        <p:txBody>
          <a:bodyPr wrap="none" rtlCol="0">
            <a:spAutoFit/>
          </a:bodyPr>
          <a:lstStyle/>
          <a:p>
            <a:r>
              <a:rPr lang="en-IN" dirty="0"/>
              <a:t>L Name</a:t>
            </a:r>
          </a:p>
        </p:txBody>
      </p:sp>
      <p:sp>
        <p:nvSpPr>
          <p:cNvPr id="20" name="TextBox 19">
            <a:extLst>
              <a:ext uri="{FF2B5EF4-FFF2-40B4-BE49-F238E27FC236}">
                <a16:creationId xmlns:a16="http://schemas.microsoft.com/office/drawing/2014/main" id="{D088471C-87D9-4D29-802D-1D265008402F}"/>
              </a:ext>
            </a:extLst>
          </p:cNvPr>
          <p:cNvSpPr txBox="1"/>
          <p:nvPr/>
        </p:nvSpPr>
        <p:spPr>
          <a:xfrm>
            <a:off x="245487" y="4740849"/>
            <a:ext cx="889987" cy="369332"/>
          </a:xfrm>
          <a:prstGeom prst="rect">
            <a:avLst/>
          </a:prstGeom>
          <a:noFill/>
        </p:spPr>
        <p:txBody>
          <a:bodyPr wrap="none" rtlCol="0">
            <a:spAutoFit/>
          </a:bodyPr>
          <a:lstStyle/>
          <a:p>
            <a:r>
              <a:rPr lang="en-IN" dirty="0"/>
              <a:t>Depart.</a:t>
            </a:r>
          </a:p>
        </p:txBody>
      </p:sp>
      <p:sp>
        <p:nvSpPr>
          <p:cNvPr id="21" name="TextBox 20">
            <a:extLst>
              <a:ext uri="{FF2B5EF4-FFF2-40B4-BE49-F238E27FC236}">
                <a16:creationId xmlns:a16="http://schemas.microsoft.com/office/drawing/2014/main" id="{66E18D23-215A-43DB-943E-CFB927A3494D}"/>
              </a:ext>
            </a:extLst>
          </p:cNvPr>
          <p:cNvSpPr txBox="1"/>
          <p:nvPr/>
        </p:nvSpPr>
        <p:spPr>
          <a:xfrm>
            <a:off x="263240" y="5258514"/>
            <a:ext cx="697627" cy="369332"/>
          </a:xfrm>
          <a:prstGeom prst="rect">
            <a:avLst/>
          </a:prstGeom>
          <a:noFill/>
        </p:spPr>
        <p:txBody>
          <a:bodyPr wrap="none" rtlCol="0">
            <a:spAutoFit/>
          </a:bodyPr>
          <a:lstStyle/>
          <a:p>
            <a:r>
              <a:rPr lang="en-IN" dirty="0"/>
              <a:t>Email</a:t>
            </a:r>
          </a:p>
        </p:txBody>
      </p:sp>
      <p:sp>
        <p:nvSpPr>
          <p:cNvPr id="22" name="Rectangle: Rounded Corners 21">
            <a:extLst>
              <a:ext uri="{FF2B5EF4-FFF2-40B4-BE49-F238E27FC236}">
                <a16:creationId xmlns:a16="http://schemas.microsoft.com/office/drawing/2014/main" id="{05006981-B106-44F0-AE4B-C7ECF6E504C3}"/>
              </a:ext>
            </a:extLst>
          </p:cNvPr>
          <p:cNvSpPr/>
          <p:nvPr/>
        </p:nvSpPr>
        <p:spPr>
          <a:xfrm>
            <a:off x="1105266" y="5874056"/>
            <a:ext cx="1970843" cy="3693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Create User</a:t>
            </a:r>
          </a:p>
        </p:txBody>
      </p:sp>
      <p:sp>
        <p:nvSpPr>
          <p:cNvPr id="23" name="Isosceles Triangle 22">
            <a:extLst>
              <a:ext uri="{FF2B5EF4-FFF2-40B4-BE49-F238E27FC236}">
                <a16:creationId xmlns:a16="http://schemas.microsoft.com/office/drawing/2014/main" id="{30E854AA-68B3-4013-9974-CFE6904F393B}"/>
              </a:ext>
            </a:extLst>
          </p:cNvPr>
          <p:cNvSpPr/>
          <p:nvPr/>
        </p:nvSpPr>
        <p:spPr>
          <a:xfrm>
            <a:off x="10280341" y="4096450"/>
            <a:ext cx="1526960" cy="153139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AAD</a:t>
            </a:r>
          </a:p>
        </p:txBody>
      </p:sp>
      <p:pic>
        <p:nvPicPr>
          <p:cNvPr id="2050" name="Picture 2" descr="See the source image">
            <a:extLst>
              <a:ext uri="{FF2B5EF4-FFF2-40B4-BE49-F238E27FC236}">
                <a16:creationId xmlns:a16="http://schemas.microsoft.com/office/drawing/2014/main" id="{4B7040F2-98F1-4D0E-A850-CA6FE9591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8162" y="4019905"/>
            <a:ext cx="1239383" cy="1239383"/>
          </a:xfrm>
          <a:prstGeom prst="rect">
            <a:avLst/>
          </a:prstGeom>
          <a:noFill/>
          <a:extLst>
            <a:ext uri="{909E8E84-426E-40DD-AFC4-6F175D3DCCD1}">
              <a14:hiddenFill xmlns:a14="http://schemas.microsoft.com/office/drawing/2010/main">
                <a:solidFill>
                  <a:srgbClr val="FFFFFF"/>
                </a:solidFill>
              </a14:hiddenFill>
            </a:ext>
          </a:extLst>
        </p:spPr>
      </p:pic>
      <p:sp>
        <p:nvSpPr>
          <p:cNvPr id="25" name="Cylinder 24">
            <a:extLst>
              <a:ext uri="{FF2B5EF4-FFF2-40B4-BE49-F238E27FC236}">
                <a16:creationId xmlns:a16="http://schemas.microsoft.com/office/drawing/2014/main" id="{EBA1F13A-941F-48D0-9091-7F962B850C09}"/>
              </a:ext>
            </a:extLst>
          </p:cNvPr>
          <p:cNvSpPr/>
          <p:nvPr/>
        </p:nvSpPr>
        <p:spPr>
          <a:xfrm>
            <a:off x="4192270" y="4029867"/>
            <a:ext cx="1015407" cy="131005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FB87BB9C-7B33-4E13-BDDD-656CB791AFD8}"/>
              </a:ext>
            </a:extLst>
          </p:cNvPr>
          <p:cNvCxnSpPr/>
          <p:nvPr/>
        </p:nvCxnSpPr>
        <p:spPr>
          <a:xfrm>
            <a:off x="3400148" y="4639597"/>
            <a:ext cx="6480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339A75A-D818-434B-AEA9-E41F6C10B140}"/>
              </a:ext>
            </a:extLst>
          </p:cNvPr>
          <p:cNvCxnSpPr/>
          <p:nvPr/>
        </p:nvCxnSpPr>
        <p:spPr>
          <a:xfrm>
            <a:off x="5344358" y="4621531"/>
            <a:ext cx="16147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52" name="Picture 4" descr="See the source image">
            <a:extLst>
              <a:ext uri="{FF2B5EF4-FFF2-40B4-BE49-F238E27FC236}">
                <a16:creationId xmlns:a16="http://schemas.microsoft.com/office/drawing/2014/main" id="{237A2970-7BF7-4984-9443-F358C6D5D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5298" y="4299874"/>
            <a:ext cx="681600" cy="679443"/>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8AB576E5-36F1-43F3-B29D-523F03867556}"/>
              </a:ext>
            </a:extLst>
          </p:cNvPr>
          <p:cNvSpPr txBox="1"/>
          <p:nvPr/>
        </p:nvSpPr>
        <p:spPr>
          <a:xfrm>
            <a:off x="10402555" y="3705519"/>
            <a:ext cx="1282531" cy="369332"/>
          </a:xfrm>
          <a:prstGeom prst="rect">
            <a:avLst/>
          </a:prstGeom>
          <a:noFill/>
        </p:spPr>
        <p:txBody>
          <a:bodyPr wrap="none" rtlCol="0">
            <a:spAutoFit/>
          </a:bodyPr>
          <a:lstStyle/>
          <a:p>
            <a:r>
              <a:rPr lang="en-IN" dirty="0"/>
              <a:t>AAD Tenant</a:t>
            </a:r>
          </a:p>
        </p:txBody>
      </p:sp>
      <p:cxnSp>
        <p:nvCxnSpPr>
          <p:cNvPr id="2048" name="Straight Arrow Connector 2047">
            <a:extLst>
              <a:ext uri="{FF2B5EF4-FFF2-40B4-BE49-F238E27FC236}">
                <a16:creationId xmlns:a16="http://schemas.microsoft.com/office/drawing/2014/main" id="{9CD981D1-40CB-46CA-88DE-E6E282E04FC4}"/>
              </a:ext>
            </a:extLst>
          </p:cNvPr>
          <p:cNvCxnSpPr>
            <a:cxnSpLocks/>
            <a:stCxn id="2050" idx="3"/>
          </p:cNvCxnSpPr>
          <p:nvPr/>
        </p:nvCxnSpPr>
        <p:spPr>
          <a:xfrm>
            <a:off x="8267545" y="4639597"/>
            <a:ext cx="6716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1" name="Straight Arrow Connector 2050">
            <a:extLst>
              <a:ext uri="{FF2B5EF4-FFF2-40B4-BE49-F238E27FC236}">
                <a16:creationId xmlns:a16="http://schemas.microsoft.com/office/drawing/2014/main" id="{28B1190F-D349-4AD8-A035-932582DB11D0}"/>
              </a:ext>
            </a:extLst>
          </p:cNvPr>
          <p:cNvCxnSpPr>
            <a:cxnSpLocks/>
            <a:stCxn id="2052" idx="3"/>
          </p:cNvCxnSpPr>
          <p:nvPr/>
        </p:nvCxnSpPr>
        <p:spPr>
          <a:xfrm>
            <a:off x="9656898" y="4639596"/>
            <a:ext cx="863141" cy="222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54" name="Picture 12" descr="User icon">
            <a:extLst>
              <a:ext uri="{FF2B5EF4-FFF2-40B4-BE49-F238E27FC236}">
                <a16:creationId xmlns:a16="http://schemas.microsoft.com/office/drawing/2014/main" id="{BEA03DD1-E9FF-4398-A622-8B037D2F9A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9041" y="2656417"/>
            <a:ext cx="681600" cy="681600"/>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B65F88D1-6F1B-481C-9A9F-0CA2EB711F69}"/>
              </a:ext>
            </a:extLst>
          </p:cNvPr>
          <p:cNvSpPr txBox="1"/>
          <p:nvPr/>
        </p:nvSpPr>
        <p:spPr>
          <a:xfrm>
            <a:off x="8704381" y="1668501"/>
            <a:ext cx="3631315" cy="646331"/>
          </a:xfrm>
          <a:prstGeom prst="rect">
            <a:avLst/>
          </a:prstGeom>
          <a:noFill/>
        </p:spPr>
        <p:txBody>
          <a:bodyPr wrap="none" rtlCol="0">
            <a:spAutoFit/>
          </a:bodyPr>
          <a:lstStyle/>
          <a:p>
            <a:r>
              <a:rPr lang="en-IN" dirty="0">
                <a:hlinkClick r:id="rId5"/>
              </a:rPr>
              <a:t>username@tenant/onmicrosoft.com</a:t>
            </a:r>
            <a:endParaRPr lang="en-IN" dirty="0"/>
          </a:p>
          <a:p>
            <a:r>
              <a:rPr lang="en-IN" dirty="0" err="1"/>
              <a:t>TempPassword</a:t>
            </a:r>
            <a:endParaRPr lang="en-IN" dirty="0"/>
          </a:p>
        </p:txBody>
      </p:sp>
      <p:cxnSp>
        <p:nvCxnSpPr>
          <p:cNvPr id="2058" name="Straight Arrow Connector 2057">
            <a:extLst>
              <a:ext uri="{FF2B5EF4-FFF2-40B4-BE49-F238E27FC236}">
                <a16:creationId xmlns:a16="http://schemas.microsoft.com/office/drawing/2014/main" id="{92E4660A-9526-4E43-810C-FDF5B379E3A1}"/>
              </a:ext>
            </a:extLst>
          </p:cNvPr>
          <p:cNvCxnSpPr/>
          <p:nvPr/>
        </p:nvCxnSpPr>
        <p:spPr>
          <a:xfrm flipV="1">
            <a:off x="8267545" y="3338017"/>
            <a:ext cx="831496" cy="736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59" name="TextBox 2058">
            <a:extLst>
              <a:ext uri="{FF2B5EF4-FFF2-40B4-BE49-F238E27FC236}">
                <a16:creationId xmlns:a16="http://schemas.microsoft.com/office/drawing/2014/main" id="{16B4070F-1EBE-4F96-9A18-EABF419F622E}"/>
              </a:ext>
            </a:extLst>
          </p:cNvPr>
          <p:cNvSpPr txBox="1"/>
          <p:nvPr/>
        </p:nvSpPr>
        <p:spPr>
          <a:xfrm>
            <a:off x="5757236" y="3096481"/>
            <a:ext cx="788999" cy="369332"/>
          </a:xfrm>
          <a:prstGeom prst="rect">
            <a:avLst/>
          </a:prstGeom>
          <a:noFill/>
        </p:spPr>
        <p:txBody>
          <a:bodyPr wrap="none" rtlCol="0">
            <a:spAutoFit/>
          </a:bodyPr>
          <a:lstStyle/>
          <a:p>
            <a:r>
              <a:rPr lang="en-IN" dirty="0"/>
              <a:t>Action</a:t>
            </a:r>
          </a:p>
        </p:txBody>
      </p:sp>
      <p:cxnSp>
        <p:nvCxnSpPr>
          <p:cNvPr id="2061" name="Straight Arrow Connector 2060">
            <a:extLst>
              <a:ext uri="{FF2B5EF4-FFF2-40B4-BE49-F238E27FC236}">
                <a16:creationId xmlns:a16="http://schemas.microsoft.com/office/drawing/2014/main" id="{C9C6A165-BAAD-4D49-B76E-36DF5BCF6E2A}"/>
              </a:ext>
            </a:extLst>
          </p:cNvPr>
          <p:cNvCxnSpPr/>
          <p:nvPr/>
        </p:nvCxnSpPr>
        <p:spPr>
          <a:xfrm>
            <a:off x="6096000" y="2819480"/>
            <a:ext cx="0" cy="177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179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2E5E8-331E-4A9D-8FA3-996C3C0191EC}"/>
              </a:ext>
            </a:extLst>
          </p:cNvPr>
          <p:cNvSpPr>
            <a:spLocks noGrp="1"/>
          </p:cNvSpPr>
          <p:nvPr>
            <p:ph type="title"/>
          </p:nvPr>
        </p:nvSpPr>
        <p:spPr>
          <a:xfrm>
            <a:off x="133166" y="213064"/>
            <a:ext cx="11496582" cy="4873842"/>
          </a:xfrm>
        </p:spPr>
        <p:txBody>
          <a:bodyPr>
            <a:noAutofit/>
          </a:bodyPr>
          <a:lstStyle/>
          <a:p>
            <a:r>
              <a:rPr lang="en-IN" sz="3200" dirty="0"/>
              <a:t>Scenario – </a:t>
            </a:r>
            <a:br>
              <a:rPr lang="en-IN" sz="3200" dirty="0"/>
            </a:br>
            <a:r>
              <a:rPr lang="en-IN" sz="3200" dirty="0"/>
              <a:t>I want to create Traffic update for my upcoming journey. You need to enter start point and end point journey details, you need to use Map services. Once the traffic update is there you need send notification with time frame, create auto check with traffic on time to time basis.</a:t>
            </a:r>
            <a:br>
              <a:rPr lang="en-IN" sz="3200" dirty="0"/>
            </a:br>
            <a:br>
              <a:rPr lang="en-IN" sz="3200" dirty="0"/>
            </a:br>
            <a:r>
              <a:rPr lang="en-IN" sz="3200" dirty="0"/>
              <a:t>Map services – Bing Map API to capture the Lat Long of start point and end point of journey</a:t>
            </a:r>
            <a:br>
              <a:rPr lang="en-IN" sz="3200" dirty="0"/>
            </a:br>
            <a:r>
              <a:rPr lang="en-IN" sz="3200" dirty="0"/>
              <a:t>Email Service – Outlook to send email notification</a:t>
            </a:r>
            <a:br>
              <a:rPr lang="en-IN" sz="3200" dirty="0"/>
            </a:br>
            <a:r>
              <a:rPr lang="en-IN" sz="3200" dirty="0"/>
              <a:t>Logic Apps to define this work flow and provide some conditional activities to send the updates</a:t>
            </a:r>
            <a:br>
              <a:rPr lang="en-IN" sz="3200" dirty="0"/>
            </a:br>
            <a:endParaRPr lang="en-IN" sz="3200" dirty="0"/>
          </a:p>
        </p:txBody>
      </p:sp>
    </p:spTree>
    <p:extLst>
      <p:ext uri="{BB962C8B-B14F-4D97-AF65-F5344CB8AC3E}">
        <p14:creationId xmlns:p14="http://schemas.microsoft.com/office/powerpoint/2010/main" val="2611015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zure Patterns Collection">
            <a:extLst>
              <a:ext uri="{FF2B5EF4-FFF2-40B4-BE49-F238E27FC236}">
                <a16:creationId xmlns:a16="http://schemas.microsoft.com/office/drawing/2014/main" id="{80238F9B-6BB3-44BD-AF16-938B004D8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6124" y="1620161"/>
            <a:ext cx="1089317" cy="10893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Deep Dive into Azure AD and AWS SSO Integration – Part 4 | Journey ...">
            <a:extLst>
              <a:ext uri="{FF2B5EF4-FFF2-40B4-BE49-F238E27FC236}">
                <a16:creationId xmlns:a16="http://schemas.microsoft.com/office/drawing/2014/main" id="{7A334CBD-1656-4B98-832B-34A6259F41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28" t="11807" r="13799" b="12415"/>
          <a:stretch/>
        </p:blipFill>
        <p:spPr bwMode="auto">
          <a:xfrm>
            <a:off x="3509691" y="5544082"/>
            <a:ext cx="686470" cy="701336"/>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4A002981-37EC-4404-8A99-166E63050F18}"/>
              </a:ext>
            </a:extLst>
          </p:cNvPr>
          <p:cNvGrpSpPr/>
          <p:nvPr/>
        </p:nvGrpSpPr>
        <p:grpSpPr>
          <a:xfrm>
            <a:off x="8168086" y="852256"/>
            <a:ext cx="1658724" cy="1345871"/>
            <a:chOff x="7090622" y="1141665"/>
            <a:chExt cx="1658724" cy="1345871"/>
          </a:xfrm>
        </p:grpSpPr>
        <p:pic>
          <p:nvPicPr>
            <p:cNvPr id="6" name="Picture 10" descr="Azure Storage Resources | Wake Up And Code!">
              <a:extLst>
                <a:ext uri="{FF2B5EF4-FFF2-40B4-BE49-F238E27FC236}">
                  <a16:creationId xmlns:a16="http://schemas.microsoft.com/office/drawing/2014/main" id="{F8552665-AC93-4E8C-9E3D-DEA92226789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427" t="19561" r="50424" b="27821"/>
            <a:stretch/>
          </p:blipFill>
          <p:spPr bwMode="auto">
            <a:xfrm>
              <a:off x="7263665" y="1373024"/>
              <a:ext cx="1344766" cy="92273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F24C3AF-91A0-4788-99EC-A959C209EFD5}"/>
                </a:ext>
              </a:extLst>
            </p:cNvPr>
            <p:cNvSpPr/>
            <p:nvPr/>
          </p:nvSpPr>
          <p:spPr>
            <a:xfrm>
              <a:off x="7090622" y="1141665"/>
              <a:ext cx="1658724" cy="1345871"/>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TextBox 7">
            <a:extLst>
              <a:ext uri="{FF2B5EF4-FFF2-40B4-BE49-F238E27FC236}">
                <a16:creationId xmlns:a16="http://schemas.microsoft.com/office/drawing/2014/main" id="{0B40EF0C-1FFC-4A18-9A53-F8A9C397180D}"/>
              </a:ext>
            </a:extLst>
          </p:cNvPr>
          <p:cNvSpPr txBox="1"/>
          <p:nvPr/>
        </p:nvSpPr>
        <p:spPr>
          <a:xfrm>
            <a:off x="9858938" y="936301"/>
            <a:ext cx="2225930" cy="523220"/>
          </a:xfrm>
          <a:prstGeom prst="rect">
            <a:avLst/>
          </a:prstGeom>
          <a:noFill/>
        </p:spPr>
        <p:txBody>
          <a:bodyPr wrap="square" rtlCol="0">
            <a:spAutoFit/>
          </a:bodyPr>
          <a:lstStyle/>
          <a:p>
            <a:r>
              <a:rPr lang="en-IN" sz="1400" dirty="0"/>
              <a:t>Azure Storage: Access Key in Application to store data</a:t>
            </a:r>
          </a:p>
        </p:txBody>
      </p:sp>
      <p:pic>
        <p:nvPicPr>
          <p:cNvPr id="9" name="Picture 12" descr="User icon">
            <a:extLst>
              <a:ext uri="{FF2B5EF4-FFF2-40B4-BE49-F238E27FC236}">
                <a16:creationId xmlns:a16="http://schemas.microsoft.com/office/drawing/2014/main" id="{2D5368E4-F93E-4E97-95A1-C1EEE87B0C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057" y="1685139"/>
            <a:ext cx="959360" cy="95936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2E19A430-47CF-4E46-B8D2-E714B59FB0CC}"/>
              </a:ext>
            </a:extLst>
          </p:cNvPr>
          <p:cNvCxnSpPr>
            <a:cxnSpLocks/>
            <a:stCxn id="9" idx="3"/>
          </p:cNvCxnSpPr>
          <p:nvPr/>
        </p:nvCxnSpPr>
        <p:spPr>
          <a:xfrm>
            <a:off x="1128417" y="2164819"/>
            <a:ext cx="535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CC04E84-BD14-4127-8BA0-96D4302F5F0E}"/>
              </a:ext>
            </a:extLst>
          </p:cNvPr>
          <p:cNvCxnSpPr>
            <a:cxnSpLocks/>
            <a:stCxn id="4" idx="2"/>
          </p:cNvCxnSpPr>
          <p:nvPr/>
        </p:nvCxnSpPr>
        <p:spPr>
          <a:xfrm flipH="1">
            <a:off x="3790782" y="2709478"/>
            <a:ext cx="1" cy="2679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77631C03-4E99-4D54-9B95-2588746D35E2}"/>
              </a:ext>
            </a:extLst>
          </p:cNvPr>
          <p:cNvCxnSpPr>
            <a:cxnSpLocks/>
            <a:stCxn id="9" idx="2"/>
            <a:endCxn id="5" idx="1"/>
          </p:cNvCxnSpPr>
          <p:nvPr/>
        </p:nvCxnSpPr>
        <p:spPr>
          <a:xfrm rot="16200000" flipH="1">
            <a:off x="454089" y="2839147"/>
            <a:ext cx="3250251" cy="28609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34033A2-2CAC-466F-97C2-ADEFC1684634}"/>
              </a:ext>
            </a:extLst>
          </p:cNvPr>
          <p:cNvSpPr txBox="1"/>
          <p:nvPr/>
        </p:nvSpPr>
        <p:spPr>
          <a:xfrm>
            <a:off x="629991" y="5894750"/>
            <a:ext cx="2879699" cy="307777"/>
          </a:xfrm>
          <a:prstGeom prst="rect">
            <a:avLst/>
          </a:prstGeom>
          <a:noFill/>
        </p:spPr>
        <p:txBody>
          <a:bodyPr wrap="none" rtlCol="0">
            <a:spAutoFit/>
          </a:bodyPr>
          <a:lstStyle/>
          <a:p>
            <a:r>
              <a:rPr lang="en-IN" sz="1400" dirty="0"/>
              <a:t>Register User in AD for Single Sign on</a:t>
            </a:r>
          </a:p>
        </p:txBody>
      </p:sp>
      <p:pic>
        <p:nvPicPr>
          <p:cNvPr id="27" name="Picture 2" descr="An illustration showing a sample message queue with one sender sending the messages to the queue and one receiver retrieving them one-by-one from the queue.">
            <a:extLst>
              <a:ext uri="{FF2B5EF4-FFF2-40B4-BE49-F238E27FC236}">
                <a16:creationId xmlns:a16="http://schemas.microsoft.com/office/drawing/2014/main" id="{77881770-36BA-4C96-AB95-08E73C40A5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299" y="3205628"/>
            <a:ext cx="3971925" cy="81915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Things I Learnt in My First Azure Functions Project | by Zhongming ...">
            <a:extLst>
              <a:ext uri="{FF2B5EF4-FFF2-40B4-BE49-F238E27FC236}">
                <a16:creationId xmlns:a16="http://schemas.microsoft.com/office/drawing/2014/main" id="{9525D4CB-C8A9-4757-8BDA-B884B55EEC5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016" r="12425"/>
          <a:stretch/>
        </p:blipFill>
        <p:spPr bwMode="auto">
          <a:xfrm>
            <a:off x="8650635" y="3205628"/>
            <a:ext cx="982457" cy="934305"/>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5C7D02E0-DED7-4EFA-A7A3-9F51789F1096}"/>
              </a:ext>
            </a:extLst>
          </p:cNvPr>
          <p:cNvSpPr txBox="1"/>
          <p:nvPr/>
        </p:nvSpPr>
        <p:spPr>
          <a:xfrm>
            <a:off x="5594601" y="4216441"/>
            <a:ext cx="1701107" cy="415498"/>
          </a:xfrm>
          <a:prstGeom prst="rect">
            <a:avLst/>
          </a:prstGeom>
          <a:noFill/>
        </p:spPr>
        <p:txBody>
          <a:bodyPr wrap="none" rtlCol="0">
            <a:spAutoFit/>
          </a:bodyPr>
          <a:lstStyle/>
          <a:p>
            <a:r>
              <a:rPr lang="en-IN" sz="1050" dirty="0"/>
              <a:t>Blob URL</a:t>
            </a:r>
          </a:p>
          <a:p>
            <a:r>
              <a:rPr lang="en-IN" sz="1050" dirty="0"/>
              <a:t>Email ID for Welcome email</a:t>
            </a:r>
          </a:p>
        </p:txBody>
      </p:sp>
      <p:cxnSp>
        <p:nvCxnSpPr>
          <p:cNvPr id="35" name="Connector: Elbow 34">
            <a:extLst>
              <a:ext uri="{FF2B5EF4-FFF2-40B4-BE49-F238E27FC236}">
                <a16:creationId xmlns:a16="http://schemas.microsoft.com/office/drawing/2014/main" id="{32DEFB8F-50B6-4EC3-AF60-2F712E40B5B8}"/>
              </a:ext>
            </a:extLst>
          </p:cNvPr>
          <p:cNvCxnSpPr>
            <a:stCxn id="4" idx="3"/>
            <a:endCxn id="27" idx="0"/>
          </p:cNvCxnSpPr>
          <p:nvPr/>
        </p:nvCxnSpPr>
        <p:spPr>
          <a:xfrm>
            <a:off x="4335441" y="2164820"/>
            <a:ext cx="1861821" cy="10408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B0D50B4-5073-4656-B858-2F431DA63BC5}"/>
              </a:ext>
            </a:extLst>
          </p:cNvPr>
          <p:cNvCxnSpPr>
            <a:cxnSpLocks/>
            <a:stCxn id="27" idx="3"/>
          </p:cNvCxnSpPr>
          <p:nvPr/>
        </p:nvCxnSpPr>
        <p:spPr>
          <a:xfrm>
            <a:off x="8183224" y="3615203"/>
            <a:ext cx="315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SendGrid by SendGrid | AppDirect">
            <a:extLst>
              <a:ext uri="{FF2B5EF4-FFF2-40B4-BE49-F238E27FC236}">
                <a16:creationId xmlns:a16="http://schemas.microsoft.com/office/drawing/2014/main" id="{DC6DFC9A-A37B-4399-BD8E-1A259B91C8D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463" t="20911" r="9914" b="23144"/>
          <a:stretch/>
        </p:blipFill>
        <p:spPr bwMode="auto">
          <a:xfrm>
            <a:off x="10356058" y="2634262"/>
            <a:ext cx="1103548" cy="69784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Azure Patterns Collection">
            <a:extLst>
              <a:ext uri="{FF2B5EF4-FFF2-40B4-BE49-F238E27FC236}">
                <a16:creationId xmlns:a16="http://schemas.microsoft.com/office/drawing/2014/main" id="{AAA62F4C-D1D3-4DA4-B215-08BFF6E05B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6467" y="1191713"/>
            <a:ext cx="588893" cy="58889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Azure API Management Monitoring | CloudMonix">
            <a:extLst>
              <a:ext uri="{FF2B5EF4-FFF2-40B4-BE49-F238E27FC236}">
                <a16:creationId xmlns:a16="http://schemas.microsoft.com/office/drawing/2014/main" id="{ECC90F5B-6112-4438-8679-1926B7CF10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84951" y="1144012"/>
            <a:ext cx="813848" cy="684296"/>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Connector: Elbow 45">
            <a:extLst>
              <a:ext uri="{FF2B5EF4-FFF2-40B4-BE49-F238E27FC236}">
                <a16:creationId xmlns:a16="http://schemas.microsoft.com/office/drawing/2014/main" id="{94D0D64F-7269-4030-B2D2-CCB116B3E99C}"/>
              </a:ext>
            </a:extLst>
          </p:cNvPr>
          <p:cNvCxnSpPr>
            <a:stCxn id="4" idx="0"/>
            <a:endCxn id="43" idx="1"/>
          </p:cNvCxnSpPr>
          <p:nvPr/>
        </p:nvCxnSpPr>
        <p:spPr>
          <a:xfrm rot="5400000" flipH="1" flipV="1">
            <a:off x="4370867" y="906077"/>
            <a:ext cx="134001" cy="12941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C105233-1405-4079-ABA3-705E43090753}"/>
              </a:ext>
            </a:extLst>
          </p:cNvPr>
          <p:cNvCxnSpPr>
            <a:stCxn id="43" idx="3"/>
            <a:endCxn id="41" idx="1"/>
          </p:cNvCxnSpPr>
          <p:nvPr/>
        </p:nvCxnSpPr>
        <p:spPr>
          <a:xfrm>
            <a:off x="5898799" y="1486160"/>
            <a:ext cx="877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20A10213-0F8E-4092-A727-7FD8240D26EF}"/>
              </a:ext>
            </a:extLst>
          </p:cNvPr>
          <p:cNvCxnSpPr>
            <a:cxnSpLocks/>
            <a:stCxn id="41" idx="3"/>
            <a:endCxn id="7" idx="1"/>
          </p:cNvCxnSpPr>
          <p:nvPr/>
        </p:nvCxnSpPr>
        <p:spPr>
          <a:xfrm>
            <a:off x="7365360" y="1486160"/>
            <a:ext cx="802726" cy="39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Content Delivery Network (CDN) | Microsoft Azure Mono">
            <a:extLst>
              <a:ext uri="{FF2B5EF4-FFF2-40B4-BE49-F238E27FC236}">
                <a16:creationId xmlns:a16="http://schemas.microsoft.com/office/drawing/2014/main" id="{128E9B8B-45C2-4337-B509-72581BCBB2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80949" y="2146335"/>
            <a:ext cx="869134" cy="399119"/>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F01EB8F6-8CDC-48BC-8504-A67B923EB9EB}"/>
              </a:ext>
            </a:extLst>
          </p:cNvPr>
          <p:cNvSpPr txBox="1"/>
          <p:nvPr/>
        </p:nvSpPr>
        <p:spPr>
          <a:xfrm>
            <a:off x="6505085" y="908570"/>
            <a:ext cx="1131656" cy="276999"/>
          </a:xfrm>
          <a:prstGeom prst="rect">
            <a:avLst/>
          </a:prstGeom>
          <a:noFill/>
        </p:spPr>
        <p:txBody>
          <a:bodyPr wrap="none" rtlCol="0">
            <a:spAutoFit/>
          </a:bodyPr>
          <a:lstStyle/>
          <a:p>
            <a:r>
              <a:rPr lang="en-IN" sz="1200" dirty="0"/>
              <a:t>Azure API Apps</a:t>
            </a:r>
          </a:p>
        </p:txBody>
      </p:sp>
      <p:sp>
        <p:nvSpPr>
          <p:cNvPr id="56" name="TextBox 55">
            <a:extLst>
              <a:ext uri="{FF2B5EF4-FFF2-40B4-BE49-F238E27FC236}">
                <a16:creationId xmlns:a16="http://schemas.microsoft.com/office/drawing/2014/main" id="{C9BDEFEA-5B5D-4AFC-BE66-D41313EAA11D}"/>
              </a:ext>
            </a:extLst>
          </p:cNvPr>
          <p:cNvSpPr txBox="1"/>
          <p:nvPr/>
        </p:nvSpPr>
        <p:spPr>
          <a:xfrm>
            <a:off x="4699010" y="870260"/>
            <a:ext cx="1658724" cy="276999"/>
          </a:xfrm>
          <a:prstGeom prst="rect">
            <a:avLst/>
          </a:prstGeom>
          <a:noFill/>
        </p:spPr>
        <p:txBody>
          <a:bodyPr wrap="none" rtlCol="0">
            <a:spAutoFit/>
          </a:bodyPr>
          <a:lstStyle/>
          <a:p>
            <a:r>
              <a:rPr lang="en-IN" sz="1200" dirty="0"/>
              <a:t>Azure API Management</a:t>
            </a:r>
          </a:p>
        </p:txBody>
      </p:sp>
      <p:sp>
        <p:nvSpPr>
          <p:cNvPr id="57" name="TextBox 56">
            <a:extLst>
              <a:ext uri="{FF2B5EF4-FFF2-40B4-BE49-F238E27FC236}">
                <a16:creationId xmlns:a16="http://schemas.microsoft.com/office/drawing/2014/main" id="{2FF80C1A-AA85-4948-9A4D-25B8C82C3B1A}"/>
              </a:ext>
            </a:extLst>
          </p:cNvPr>
          <p:cNvSpPr txBox="1"/>
          <p:nvPr/>
        </p:nvSpPr>
        <p:spPr>
          <a:xfrm>
            <a:off x="6671385" y="2529217"/>
            <a:ext cx="853503" cy="276999"/>
          </a:xfrm>
          <a:prstGeom prst="rect">
            <a:avLst/>
          </a:prstGeom>
          <a:noFill/>
        </p:spPr>
        <p:txBody>
          <a:bodyPr wrap="none" rtlCol="0">
            <a:spAutoFit/>
          </a:bodyPr>
          <a:lstStyle/>
          <a:p>
            <a:r>
              <a:rPr lang="en-IN" sz="1200" dirty="0"/>
              <a:t>Azure CDN</a:t>
            </a:r>
          </a:p>
        </p:txBody>
      </p:sp>
      <p:cxnSp>
        <p:nvCxnSpPr>
          <p:cNvPr id="1024" name="Connector: Elbow 1023">
            <a:extLst>
              <a:ext uri="{FF2B5EF4-FFF2-40B4-BE49-F238E27FC236}">
                <a16:creationId xmlns:a16="http://schemas.microsoft.com/office/drawing/2014/main" id="{78B628EA-E47F-4F45-A8F5-13801CC6CDEC}"/>
              </a:ext>
            </a:extLst>
          </p:cNvPr>
          <p:cNvCxnSpPr>
            <a:cxnSpLocks/>
            <a:stCxn id="1028" idx="3"/>
            <a:endCxn id="7" idx="2"/>
          </p:cNvCxnSpPr>
          <p:nvPr/>
        </p:nvCxnSpPr>
        <p:spPr>
          <a:xfrm flipV="1">
            <a:off x="7450083" y="2198127"/>
            <a:ext cx="1547365" cy="1477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7" name="Connector: Elbow 1026">
            <a:extLst>
              <a:ext uri="{FF2B5EF4-FFF2-40B4-BE49-F238E27FC236}">
                <a16:creationId xmlns:a16="http://schemas.microsoft.com/office/drawing/2014/main" id="{C4453368-B24F-488B-8889-D56D261F8ECA}"/>
              </a:ext>
            </a:extLst>
          </p:cNvPr>
          <p:cNvCxnSpPr>
            <a:stCxn id="1028" idx="1"/>
          </p:cNvCxnSpPr>
          <p:nvPr/>
        </p:nvCxnSpPr>
        <p:spPr>
          <a:xfrm rot="10800000">
            <a:off x="4335441" y="2006355"/>
            <a:ext cx="2245508" cy="339541"/>
          </a:xfrm>
          <a:prstGeom prst="bentConnector3">
            <a:avLst>
              <a:gd name="adj1" fmla="val 11256"/>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C6C855A7-C27F-4D8B-B91F-400B7AFFD599}"/>
              </a:ext>
            </a:extLst>
          </p:cNvPr>
          <p:cNvSpPr txBox="1"/>
          <p:nvPr/>
        </p:nvSpPr>
        <p:spPr>
          <a:xfrm>
            <a:off x="8704002" y="2993932"/>
            <a:ext cx="1122808" cy="276999"/>
          </a:xfrm>
          <a:prstGeom prst="rect">
            <a:avLst/>
          </a:prstGeom>
          <a:noFill/>
        </p:spPr>
        <p:txBody>
          <a:bodyPr wrap="none" rtlCol="0">
            <a:spAutoFit/>
          </a:bodyPr>
          <a:lstStyle/>
          <a:p>
            <a:r>
              <a:rPr lang="en-IN" sz="1200" dirty="0"/>
              <a:t>Azure Function</a:t>
            </a:r>
          </a:p>
        </p:txBody>
      </p:sp>
      <p:pic>
        <p:nvPicPr>
          <p:cNvPr id="1040" name="Picture 6" descr="Azure Traffic Manager – Step by Step Demo (Geographic Method ...">
            <a:extLst>
              <a:ext uri="{FF2B5EF4-FFF2-40B4-BE49-F238E27FC236}">
                <a16:creationId xmlns:a16="http://schemas.microsoft.com/office/drawing/2014/main" id="{CB286D5B-4239-47C3-B5C4-A43618E13FB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5922" t="6432" r="29462" b="4999"/>
          <a:stretch/>
        </p:blipFill>
        <p:spPr bwMode="auto">
          <a:xfrm>
            <a:off x="1715154" y="1916762"/>
            <a:ext cx="502580" cy="518726"/>
          </a:xfrm>
          <a:prstGeom prst="rect">
            <a:avLst/>
          </a:prstGeom>
          <a:noFill/>
          <a:extLst>
            <a:ext uri="{909E8E84-426E-40DD-AFC4-6F175D3DCCD1}">
              <a14:hiddenFill xmlns:a14="http://schemas.microsoft.com/office/drawing/2010/main">
                <a:solidFill>
                  <a:srgbClr val="FFFFFF"/>
                </a:solidFill>
              </a14:hiddenFill>
            </a:ext>
          </a:extLst>
        </p:spPr>
      </p:pic>
      <p:cxnSp>
        <p:nvCxnSpPr>
          <p:cNvPr id="1042" name="Straight Arrow Connector 1041">
            <a:extLst>
              <a:ext uri="{FF2B5EF4-FFF2-40B4-BE49-F238E27FC236}">
                <a16:creationId xmlns:a16="http://schemas.microsoft.com/office/drawing/2014/main" id="{840C1C17-3364-4B12-8F36-F7E0954F357F}"/>
              </a:ext>
            </a:extLst>
          </p:cNvPr>
          <p:cNvCxnSpPr/>
          <p:nvPr/>
        </p:nvCxnSpPr>
        <p:spPr>
          <a:xfrm>
            <a:off x="2320405" y="2198127"/>
            <a:ext cx="6924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5B59EDF-592A-4F5C-B833-83A09E67DBE1}"/>
              </a:ext>
            </a:extLst>
          </p:cNvPr>
          <p:cNvSpPr txBox="1"/>
          <p:nvPr/>
        </p:nvSpPr>
        <p:spPr>
          <a:xfrm>
            <a:off x="1207059" y="1664635"/>
            <a:ext cx="1553695" cy="276999"/>
          </a:xfrm>
          <a:prstGeom prst="rect">
            <a:avLst/>
          </a:prstGeom>
          <a:noFill/>
        </p:spPr>
        <p:txBody>
          <a:bodyPr wrap="none" rtlCol="0">
            <a:spAutoFit/>
          </a:bodyPr>
          <a:lstStyle/>
          <a:p>
            <a:r>
              <a:rPr lang="en-IN" sz="1200" dirty="0"/>
              <a:t>Azure Traffic Manager</a:t>
            </a:r>
          </a:p>
        </p:txBody>
      </p:sp>
      <p:sp>
        <p:nvSpPr>
          <p:cNvPr id="1043" name="TextBox 1042">
            <a:extLst>
              <a:ext uri="{FF2B5EF4-FFF2-40B4-BE49-F238E27FC236}">
                <a16:creationId xmlns:a16="http://schemas.microsoft.com/office/drawing/2014/main" id="{A5255F43-C8FB-41F7-AE78-3E1FA40B3153}"/>
              </a:ext>
            </a:extLst>
          </p:cNvPr>
          <p:cNvSpPr txBox="1"/>
          <p:nvPr/>
        </p:nvSpPr>
        <p:spPr>
          <a:xfrm>
            <a:off x="0" y="-10352"/>
            <a:ext cx="2742289" cy="369332"/>
          </a:xfrm>
          <a:prstGeom prst="rect">
            <a:avLst/>
          </a:prstGeom>
          <a:noFill/>
        </p:spPr>
        <p:txBody>
          <a:bodyPr wrap="none" rtlCol="0">
            <a:spAutoFit/>
          </a:bodyPr>
          <a:lstStyle/>
          <a:p>
            <a:r>
              <a:rPr lang="en-IN" dirty="0"/>
              <a:t>Emp. Information Web App</a:t>
            </a:r>
          </a:p>
        </p:txBody>
      </p:sp>
      <p:cxnSp>
        <p:nvCxnSpPr>
          <p:cNvPr id="90" name="Straight Arrow Connector 89">
            <a:extLst>
              <a:ext uri="{FF2B5EF4-FFF2-40B4-BE49-F238E27FC236}">
                <a16:creationId xmlns:a16="http://schemas.microsoft.com/office/drawing/2014/main" id="{FA3F1495-D619-426E-99F4-A4FB97F8E143}"/>
              </a:ext>
            </a:extLst>
          </p:cNvPr>
          <p:cNvCxnSpPr>
            <a:cxnSpLocks/>
          </p:cNvCxnSpPr>
          <p:nvPr/>
        </p:nvCxnSpPr>
        <p:spPr>
          <a:xfrm>
            <a:off x="9668904" y="3721526"/>
            <a:ext cx="315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70E579D2-AFCB-4A09-9AAF-16196ED7F569}"/>
              </a:ext>
            </a:extLst>
          </p:cNvPr>
          <p:cNvSpPr txBox="1"/>
          <p:nvPr/>
        </p:nvSpPr>
        <p:spPr>
          <a:xfrm>
            <a:off x="5548577" y="3997539"/>
            <a:ext cx="1286121" cy="276999"/>
          </a:xfrm>
          <a:prstGeom prst="rect">
            <a:avLst/>
          </a:prstGeom>
          <a:noFill/>
        </p:spPr>
        <p:txBody>
          <a:bodyPr wrap="none" rtlCol="0">
            <a:spAutoFit/>
          </a:bodyPr>
          <a:lstStyle/>
          <a:p>
            <a:r>
              <a:rPr lang="en-IN" sz="1200" dirty="0"/>
              <a:t>Azure Service Bus</a:t>
            </a:r>
          </a:p>
        </p:txBody>
      </p:sp>
      <p:sp>
        <p:nvSpPr>
          <p:cNvPr id="100" name="Oval 99">
            <a:extLst>
              <a:ext uri="{FF2B5EF4-FFF2-40B4-BE49-F238E27FC236}">
                <a16:creationId xmlns:a16="http://schemas.microsoft.com/office/drawing/2014/main" id="{11E65380-29AC-4F58-9BDA-6AC1780E4329}"/>
              </a:ext>
            </a:extLst>
          </p:cNvPr>
          <p:cNvSpPr/>
          <p:nvPr/>
        </p:nvSpPr>
        <p:spPr>
          <a:xfrm>
            <a:off x="404333" y="1202738"/>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a:t>
            </a:r>
          </a:p>
        </p:txBody>
      </p:sp>
      <p:sp>
        <p:nvSpPr>
          <p:cNvPr id="101" name="Oval 100">
            <a:extLst>
              <a:ext uri="{FF2B5EF4-FFF2-40B4-BE49-F238E27FC236}">
                <a16:creationId xmlns:a16="http://schemas.microsoft.com/office/drawing/2014/main" id="{B0656BBB-BE6D-4FBD-928A-F4858CE6EBA6}"/>
              </a:ext>
            </a:extLst>
          </p:cNvPr>
          <p:cNvSpPr/>
          <p:nvPr/>
        </p:nvSpPr>
        <p:spPr>
          <a:xfrm>
            <a:off x="1788909" y="1148436"/>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2</a:t>
            </a:r>
          </a:p>
        </p:txBody>
      </p:sp>
      <p:sp>
        <p:nvSpPr>
          <p:cNvPr id="102" name="Oval 101">
            <a:extLst>
              <a:ext uri="{FF2B5EF4-FFF2-40B4-BE49-F238E27FC236}">
                <a16:creationId xmlns:a16="http://schemas.microsoft.com/office/drawing/2014/main" id="{72463F07-21EC-4D87-821A-48A902A405C7}"/>
              </a:ext>
            </a:extLst>
          </p:cNvPr>
          <p:cNvSpPr/>
          <p:nvPr/>
        </p:nvSpPr>
        <p:spPr>
          <a:xfrm>
            <a:off x="3268490" y="1131017"/>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3</a:t>
            </a:r>
          </a:p>
        </p:txBody>
      </p:sp>
      <p:sp>
        <p:nvSpPr>
          <p:cNvPr id="103" name="Oval 102">
            <a:extLst>
              <a:ext uri="{FF2B5EF4-FFF2-40B4-BE49-F238E27FC236}">
                <a16:creationId xmlns:a16="http://schemas.microsoft.com/office/drawing/2014/main" id="{02E749BA-1A1D-4118-B5A1-0D4093871FDA}"/>
              </a:ext>
            </a:extLst>
          </p:cNvPr>
          <p:cNvSpPr/>
          <p:nvPr/>
        </p:nvSpPr>
        <p:spPr>
          <a:xfrm>
            <a:off x="3155976" y="4984014"/>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4</a:t>
            </a:r>
          </a:p>
        </p:txBody>
      </p:sp>
      <p:sp>
        <p:nvSpPr>
          <p:cNvPr id="104" name="Oval 103">
            <a:extLst>
              <a:ext uri="{FF2B5EF4-FFF2-40B4-BE49-F238E27FC236}">
                <a16:creationId xmlns:a16="http://schemas.microsoft.com/office/drawing/2014/main" id="{AFCEAB31-61D2-4291-A65B-FFA6669FCEC7}"/>
              </a:ext>
            </a:extLst>
          </p:cNvPr>
          <p:cNvSpPr/>
          <p:nvPr/>
        </p:nvSpPr>
        <p:spPr>
          <a:xfrm>
            <a:off x="5250675" y="443047"/>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5</a:t>
            </a:r>
          </a:p>
        </p:txBody>
      </p:sp>
      <p:sp>
        <p:nvSpPr>
          <p:cNvPr id="105" name="Oval 104">
            <a:extLst>
              <a:ext uri="{FF2B5EF4-FFF2-40B4-BE49-F238E27FC236}">
                <a16:creationId xmlns:a16="http://schemas.microsoft.com/office/drawing/2014/main" id="{105CC05D-593E-4210-8B94-4D2BEFCAE58B}"/>
              </a:ext>
            </a:extLst>
          </p:cNvPr>
          <p:cNvSpPr/>
          <p:nvPr/>
        </p:nvSpPr>
        <p:spPr>
          <a:xfrm>
            <a:off x="6615736" y="453315"/>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6</a:t>
            </a:r>
          </a:p>
        </p:txBody>
      </p:sp>
      <p:sp>
        <p:nvSpPr>
          <p:cNvPr id="106" name="Oval 105">
            <a:extLst>
              <a:ext uri="{FF2B5EF4-FFF2-40B4-BE49-F238E27FC236}">
                <a16:creationId xmlns:a16="http://schemas.microsoft.com/office/drawing/2014/main" id="{0E0742BE-627C-4352-A3F9-7A8044206314}"/>
              </a:ext>
            </a:extLst>
          </p:cNvPr>
          <p:cNvSpPr/>
          <p:nvPr/>
        </p:nvSpPr>
        <p:spPr>
          <a:xfrm>
            <a:off x="8099929" y="330825"/>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7</a:t>
            </a:r>
          </a:p>
        </p:txBody>
      </p:sp>
      <p:sp>
        <p:nvSpPr>
          <p:cNvPr id="108" name="Oval 107">
            <a:extLst>
              <a:ext uri="{FF2B5EF4-FFF2-40B4-BE49-F238E27FC236}">
                <a16:creationId xmlns:a16="http://schemas.microsoft.com/office/drawing/2014/main" id="{89A0B298-2FF5-4CDE-9CAA-4EFF8D38DB2F}"/>
              </a:ext>
            </a:extLst>
          </p:cNvPr>
          <p:cNvSpPr/>
          <p:nvPr/>
        </p:nvSpPr>
        <p:spPr>
          <a:xfrm>
            <a:off x="7495453" y="2426516"/>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8</a:t>
            </a:r>
          </a:p>
        </p:txBody>
      </p:sp>
      <p:sp>
        <p:nvSpPr>
          <p:cNvPr id="110" name="Oval 109">
            <a:extLst>
              <a:ext uri="{FF2B5EF4-FFF2-40B4-BE49-F238E27FC236}">
                <a16:creationId xmlns:a16="http://schemas.microsoft.com/office/drawing/2014/main" id="{014E3C0F-5563-4F93-AA88-E0968A093354}"/>
              </a:ext>
            </a:extLst>
          </p:cNvPr>
          <p:cNvSpPr/>
          <p:nvPr/>
        </p:nvSpPr>
        <p:spPr>
          <a:xfrm>
            <a:off x="5594601" y="2764871"/>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9</a:t>
            </a:r>
          </a:p>
        </p:txBody>
      </p:sp>
      <p:sp>
        <p:nvSpPr>
          <p:cNvPr id="111" name="Oval 110">
            <a:extLst>
              <a:ext uri="{FF2B5EF4-FFF2-40B4-BE49-F238E27FC236}">
                <a16:creationId xmlns:a16="http://schemas.microsoft.com/office/drawing/2014/main" id="{320627C2-92A5-4D1F-9217-39B215EC0714}"/>
              </a:ext>
            </a:extLst>
          </p:cNvPr>
          <p:cNvSpPr/>
          <p:nvPr/>
        </p:nvSpPr>
        <p:spPr>
          <a:xfrm>
            <a:off x="8363220" y="3863681"/>
            <a:ext cx="481039" cy="4810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10</a:t>
            </a:r>
          </a:p>
        </p:txBody>
      </p:sp>
      <p:sp>
        <p:nvSpPr>
          <p:cNvPr id="112" name="Oval 111">
            <a:extLst>
              <a:ext uri="{FF2B5EF4-FFF2-40B4-BE49-F238E27FC236}">
                <a16:creationId xmlns:a16="http://schemas.microsoft.com/office/drawing/2014/main" id="{21398782-33B2-4B94-A729-97D70DB16BE5}"/>
              </a:ext>
            </a:extLst>
          </p:cNvPr>
          <p:cNvSpPr/>
          <p:nvPr/>
        </p:nvSpPr>
        <p:spPr>
          <a:xfrm>
            <a:off x="11383930" y="2570679"/>
            <a:ext cx="481039" cy="4810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11</a:t>
            </a:r>
          </a:p>
        </p:txBody>
      </p:sp>
      <p:sp>
        <p:nvSpPr>
          <p:cNvPr id="1051" name="TextBox 1050">
            <a:extLst>
              <a:ext uri="{FF2B5EF4-FFF2-40B4-BE49-F238E27FC236}">
                <a16:creationId xmlns:a16="http://schemas.microsoft.com/office/drawing/2014/main" id="{126D7BBC-3A28-4562-BCF8-6BD22667DF92}"/>
              </a:ext>
            </a:extLst>
          </p:cNvPr>
          <p:cNvSpPr txBox="1"/>
          <p:nvPr/>
        </p:nvSpPr>
        <p:spPr>
          <a:xfrm>
            <a:off x="4265680" y="2177061"/>
            <a:ext cx="1239442" cy="261610"/>
          </a:xfrm>
          <a:prstGeom prst="rect">
            <a:avLst/>
          </a:prstGeom>
          <a:noFill/>
        </p:spPr>
        <p:txBody>
          <a:bodyPr wrap="none" rtlCol="0">
            <a:spAutoFit/>
          </a:bodyPr>
          <a:lstStyle/>
          <a:p>
            <a:r>
              <a:rPr lang="en-IN" sz="1100" dirty="0"/>
              <a:t>Standard App Plan</a:t>
            </a:r>
          </a:p>
        </p:txBody>
      </p:sp>
      <p:pic>
        <p:nvPicPr>
          <p:cNvPr id="1052" name="Picture 8" descr="azure-cognitive-services - Microsoft Q&amp;A">
            <a:extLst>
              <a:ext uri="{FF2B5EF4-FFF2-40B4-BE49-F238E27FC236}">
                <a16:creationId xmlns:a16="http://schemas.microsoft.com/office/drawing/2014/main" id="{7944DE36-23E4-474D-AF01-FF7B1A27FC7B}"/>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19187" b="18180"/>
          <a:stretch/>
        </p:blipFill>
        <p:spPr bwMode="auto">
          <a:xfrm>
            <a:off x="10613217" y="3864576"/>
            <a:ext cx="768023" cy="481039"/>
          </a:xfrm>
          <a:prstGeom prst="rect">
            <a:avLst/>
          </a:prstGeom>
          <a:noFill/>
          <a:extLst>
            <a:ext uri="{909E8E84-426E-40DD-AFC4-6F175D3DCCD1}">
              <a14:hiddenFill xmlns:a14="http://schemas.microsoft.com/office/drawing/2010/main">
                <a:solidFill>
                  <a:srgbClr val="FFFFFF"/>
                </a:solidFill>
              </a14:hiddenFill>
            </a:ext>
          </a:extLst>
        </p:spPr>
      </p:pic>
      <p:sp>
        <p:nvSpPr>
          <p:cNvPr id="1053" name="TextBox 1052">
            <a:extLst>
              <a:ext uri="{FF2B5EF4-FFF2-40B4-BE49-F238E27FC236}">
                <a16:creationId xmlns:a16="http://schemas.microsoft.com/office/drawing/2014/main" id="{0DAE33A0-EDEC-42F4-8CDF-E68DFC5A3D14}"/>
              </a:ext>
            </a:extLst>
          </p:cNvPr>
          <p:cNvSpPr txBox="1"/>
          <p:nvPr/>
        </p:nvSpPr>
        <p:spPr>
          <a:xfrm>
            <a:off x="10391685" y="4344720"/>
            <a:ext cx="1677157" cy="461665"/>
          </a:xfrm>
          <a:prstGeom prst="rect">
            <a:avLst/>
          </a:prstGeom>
          <a:noFill/>
        </p:spPr>
        <p:txBody>
          <a:bodyPr wrap="square" rtlCol="0">
            <a:spAutoFit/>
          </a:bodyPr>
          <a:lstStyle/>
          <a:p>
            <a:r>
              <a:rPr lang="en-IN" sz="1200" dirty="0"/>
              <a:t>Azure Cognitive Service</a:t>
            </a:r>
          </a:p>
          <a:p>
            <a:r>
              <a:rPr lang="en-IN" sz="1200" dirty="0"/>
              <a:t>Compute</a:t>
            </a:r>
          </a:p>
        </p:txBody>
      </p:sp>
      <p:sp>
        <p:nvSpPr>
          <p:cNvPr id="119" name="Oval 118">
            <a:extLst>
              <a:ext uri="{FF2B5EF4-FFF2-40B4-BE49-F238E27FC236}">
                <a16:creationId xmlns:a16="http://schemas.microsoft.com/office/drawing/2014/main" id="{B1C28B68-BA03-4497-94E1-6E946061F8E6}"/>
              </a:ext>
            </a:extLst>
          </p:cNvPr>
          <p:cNvSpPr/>
          <p:nvPr/>
        </p:nvSpPr>
        <p:spPr>
          <a:xfrm>
            <a:off x="11459606" y="3671187"/>
            <a:ext cx="481039" cy="4810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12</a:t>
            </a:r>
          </a:p>
        </p:txBody>
      </p:sp>
      <p:sp>
        <p:nvSpPr>
          <p:cNvPr id="1054" name="Left Brace 1053">
            <a:extLst>
              <a:ext uri="{FF2B5EF4-FFF2-40B4-BE49-F238E27FC236}">
                <a16:creationId xmlns:a16="http://schemas.microsoft.com/office/drawing/2014/main" id="{19EA1065-4E01-4526-B9DF-00242BE0A67A}"/>
              </a:ext>
            </a:extLst>
          </p:cNvPr>
          <p:cNvSpPr/>
          <p:nvPr/>
        </p:nvSpPr>
        <p:spPr>
          <a:xfrm>
            <a:off x="10044062" y="2486872"/>
            <a:ext cx="520777" cy="24693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10174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55E63C66-2E26-402C-9E99-E04C0895D7F1}"/>
              </a:ext>
            </a:extLst>
          </p:cNvPr>
          <p:cNvSpPr/>
          <p:nvPr/>
        </p:nvSpPr>
        <p:spPr>
          <a:xfrm>
            <a:off x="285839" y="847467"/>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BCBBE299-9019-4B12-9526-E7420DB0336F}"/>
              </a:ext>
            </a:extLst>
          </p:cNvPr>
          <p:cNvSpPr txBox="1"/>
          <p:nvPr/>
        </p:nvSpPr>
        <p:spPr>
          <a:xfrm>
            <a:off x="597189" y="965556"/>
            <a:ext cx="5639111" cy="246221"/>
          </a:xfrm>
          <a:prstGeom prst="rect">
            <a:avLst/>
          </a:prstGeom>
          <a:noFill/>
        </p:spPr>
        <p:txBody>
          <a:bodyPr wrap="square" rtlCol="0">
            <a:spAutoFit/>
          </a:bodyPr>
          <a:lstStyle/>
          <a:p>
            <a:r>
              <a:rPr lang="en-IN" sz="1000" dirty="0"/>
              <a:t>TM will route the user request to the specific available endpoint based on the method configured</a:t>
            </a:r>
          </a:p>
        </p:txBody>
      </p:sp>
      <p:sp>
        <p:nvSpPr>
          <p:cNvPr id="27" name="Rectangle: Rounded Corners 26">
            <a:extLst>
              <a:ext uri="{FF2B5EF4-FFF2-40B4-BE49-F238E27FC236}">
                <a16:creationId xmlns:a16="http://schemas.microsoft.com/office/drawing/2014/main" id="{246F6738-CF5E-4440-8DA8-F88CBA51C4F0}"/>
              </a:ext>
            </a:extLst>
          </p:cNvPr>
          <p:cNvSpPr/>
          <p:nvPr/>
        </p:nvSpPr>
        <p:spPr>
          <a:xfrm>
            <a:off x="355989" y="147313"/>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E8FD5A26-630A-4D78-BA23-98B5094FA140}"/>
              </a:ext>
            </a:extLst>
          </p:cNvPr>
          <p:cNvSpPr/>
          <p:nvPr/>
        </p:nvSpPr>
        <p:spPr>
          <a:xfrm>
            <a:off x="107656" y="147313"/>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a:t>
            </a:r>
          </a:p>
        </p:txBody>
      </p:sp>
      <p:sp>
        <p:nvSpPr>
          <p:cNvPr id="7" name="Oval 6">
            <a:extLst>
              <a:ext uri="{FF2B5EF4-FFF2-40B4-BE49-F238E27FC236}">
                <a16:creationId xmlns:a16="http://schemas.microsoft.com/office/drawing/2014/main" id="{74706483-4DC6-4F0D-AC82-D66657816CDD}"/>
              </a:ext>
            </a:extLst>
          </p:cNvPr>
          <p:cNvSpPr/>
          <p:nvPr/>
        </p:nvSpPr>
        <p:spPr>
          <a:xfrm>
            <a:off x="107656" y="847467"/>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2</a:t>
            </a:r>
          </a:p>
        </p:txBody>
      </p:sp>
      <p:sp>
        <p:nvSpPr>
          <p:cNvPr id="28" name="TextBox 27">
            <a:extLst>
              <a:ext uri="{FF2B5EF4-FFF2-40B4-BE49-F238E27FC236}">
                <a16:creationId xmlns:a16="http://schemas.microsoft.com/office/drawing/2014/main" id="{BD05D443-FF81-47C3-8800-53E8C01380AE}"/>
              </a:ext>
            </a:extLst>
          </p:cNvPr>
          <p:cNvSpPr txBox="1"/>
          <p:nvPr/>
        </p:nvSpPr>
        <p:spPr>
          <a:xfrm>
            <a:off x="615816" y="188458"/>
            <a:ext cx="5568961" cy="400110"/>
          </a:xfrm>
          <a:prstGeom prst="rect">
            <a:avLst/>
          </a:prstGeom>
          <a:noFill/>
        </p:spPr>
        <p:txBody>
          <a:bodyPr wrap="square" rtlCol="0">
            <a:spAutoFit/>
          </a:bodyPr>
          <a:lstStyle/>
          <a:p>
            <a:r>
              <a:rPr lang="en-IN" sz="1000" dirty="0"/>
              <a:t>User will connect to application using TM profile with the configuration of TM method – Priority, Performance, Geography &amp; Weighted </a:t>
            </a:r>
          </a:p>
        </p:txBody>
      </p:sp>
      <p:sp>
        <p:nvSpPr>
          <p:cNvPr id="31" name="Rectangle: Rounded Corners 30">
            <a:extLst>
              <a:ext uri="{FF2B5EF4-FFF2-40B4-BE49-F238E27FC236}">
                <a16:creationId xmlns:a16="http://schemas.microsoft.com/office/drawing/2014/main" id="{49ADEA93-E03A-4C95-B61A-F080725DD8F9}"/>
              </a:ext>
            </a:extLst>
          </p:cNvPr>
          <p:cNvSpPr/>
          <p:nvPr/>
        </p:nvSpPr>
        <p:spPr>
          <a:xfrm>
            <a:off x="285839" y="1539820"/>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DBAE02CA-B12B-4DE6-9346-2129752C2F04}"/>
              </a:ext>
            </a:extLst>
          </p:cNvPr>
          <p:cNvSpPr txBox="1"/>
          <p:nvPr/>
        </p:nvSpPr>
        <p:spPr>
          <a:xfrm>
            <a:off x="597189" y="1580965"/>
            <a:ext cx="5639111" cy="400110"/>
          </a:xfrm>
          <a:prstGeom prst="rect">
            <a:avLst/>
          </a:prstGeom>
          <a:noFill/>
        </p:spPr>
        <p:txBody>
          <a:bodyPr wrap="square" rtlCol="0">
            <a:spAutoFit/>
          </a:bodyPr>
          <a:lstStyle/>
          <a:p>
            <a:r>
              <a:rPr lang="en-IN" sz="1000" dirty="0"/>
              <a:t>Application to be hosted on Azure Web Apps with App service plan to make sure the HA scenario to be taken care, autoscaling rules cloud burst kind of event</a:t>
            </a:r>
          </a:p>
        </p:txBody>
      </p:sp>
      <p:sp>
        <p:nvSpPr>
          <p:cNvPr id="34" name="Oval 33">
            <a:extLst>
              <a:ext uri="{FF2B5EF4-FFF2-40B4-BE49-F238E27FC236}">
                <a16:creationId xmlns:a16="http://schemas.microsoft.com/office/drawing/2014/main" id="{865595E4-9B01-4FF5-A31E-EE2FADDED373}"/>
              </a:ext>
            </a:extLst>
          </p:cNvPr>
          <p:cNvSpPr/>
          <p:nvPr/>
        </p:nvSpPr>
        <p:spPr>
          <a:xfrm>
            <a:off x="107656" y="1539820"/>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3</a:t>
            </a:r>
          </a:p>
        </p:txBody>
      </p:sp>
      <p:sp>
        <p:nvSpPr>
          <p:cNvPr id="35" name="Rectangle: Rounded Corners 34">
            <a:extLst>
              <a:ext uri="{FF2B5EF4-FFF2-40B4-BE49-F238E27FC236}">
                <a16:creationId xmlns:a16="http://schemas.microsoft.com/office/drawing/2014/main" id="{5C86E670-65DF-4282-8771-0E2539D68A52}"/>
              </a:ext>
            </a:extLst>
          </p:cNvPr>
          <p:cNvSpPr/>
          <p:nvPr/>
        </p:nvSpPr>
        <p:spPr>
          <a:xfrm>
            <a:off x="285839" y="2240056"/>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DE735C4-EE74-4A43-8F98-116DE4750133}"/>
              </a:ext>
            </a:extLst>
          </p:cNvPr>
          <p:cNvSpPr txBox="1"/>
          <p:nvPr/>
        </p:nvSpPr>
        <p:spPr>
          <a:xfrm>
            <a:off x="597189" y="2281201"/>
            <a:ext cx="5639111" cy="400110"/>
          </a:xfrm>
          <a:prstGeom prst="rect">
            <a:avLst/>
          </a:prstGeom>
          <a:noFill/>
        </p:spPr>
        <p:txBody>
          <a:bodyPr wrap="square" rtlCol="0">
            <a:spAutoFit/>
          </a:bodyPr>
          <a:lstStyle/>
          <a:p>
            <a:r>
              <a:rPr lang="en-IN" sz="1000" dirty="0"/>
              <a:t>User will be authenticated with the help Azure AD, to do so you need to register application with AD and all your registered user will have single sign on &amp; MFA to be enabled</a:t>
            </a:r>
          </a:p>
        </p:txBody>
      </p:sp>
      <p:sp>
        <p:nvSpPr>
          <p:cNvPr id="38" name="Oval 37">
            <a:extLst>
              <a:ext uri="{FF2B5EF4-FFF2-40B4-BE49-F238E27FC236}">
                <a16:creationId xmlns:a16="http://schemas.microsoft.com/office/drawing/2014/main" id="{D38C78D9-4D86-4B00-AFCA-2D899A9ABF6F}"/>
              </a:ext>
            </a:extLst>
          </p:cNvPr>
          <p:cNvSpPr/>
          <p:nvPr/>
        </p:nvSpPr>
        <p:spPr>
          <a:xfrm>
            <a:off x="107656" y="2240056"/>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4</a:t>
            </a:r>
          </a:p>
        </p:txBody>
      </p:sp>
      <p:sp>
        <p:nvSpPr>
          <p:cNvPr id="39" name="Rectangle: Rounded Corners 38">
            <a:extLst>
              <a:ext uri="{FF2B5EF4-FFF2-40B4-BE49-F238E27FC236}">
                <a16:creationId xmlns:a16="http://schemas.microsoft.com/office/drawing/2014/main" id="{4A541E87-7926-450B-860C-28D6FCD4E822}"/>
              </a:ext>
            </a:extLst>
          </p:cNvPr>
          <p:cNvSpPr/>
          <p:nvPr/>
        </p:nvSpPr>
        <p:spPr>
          <a:xfrm>
            <a:off x="285839" y="2969026"/>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A3C11E8A-B267-4D31-9C64-7337376AA3DD}"/>
              </a:ext>
            </a:extLst>
          </p:cNvPr>
          <p:cNvSpPr txBox="1"/>
          <p:nvPr/>
        </p:nvSpPr>
        <p:spPr>
          <a:xfrm>
            <a:off x="597189" y="3010171"/>
            <a:ext cx="5639111" cy="400110"/>
          </a:xfrm>
          <a:prstGeom prst="rect">
            <a:avLst/>
          </a:prstGeom>
          <a:noFill/>
        </p:spPr>
        <p:txBody>
          <a:bodyPr wrap="square" rtlCol="0">
            <a:spAutoFit/>
          </a:bodyPr>
          <a:lstStyle/>
          <a:p>
            <a:r>
              <a:rPr lang="en-IN" sz="1000" dirty="0"/>
              <a:t>Azure API Management will helps in terms of managing access to the API at the backend, kind of admin portal and dev portal provided to manage API access</a:t>
            </a:r>
          </a:p>
        </p:txBody>
      </p:sp>
      <p:sp>
        <p:nvSpPr>
          <p:cNvPr id="42" name="Oval 41">
            <a:extLst>
              <a:ext uri="{FF2B5EF4-FFF2-40B4-BE49-F238E27FC236}">
                <a16:creationId xmlns:a16="http://schemas.microsoft.com/office/drawing/2014/main" id="{6C2FDBD1-3946-4922-9741-0EDDA88AFA52}"/>
              </a:ext>
            </a:extLst>
          </p:cNvPr>
          <p:cNvSpPr/>
          <p:nvPr/>
        </p:nvSpPr>
        <p:spPr>
          <a:xfrm>
            <a:off x="107656" y="2963656"/>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5</a:t>
            </a:r>
          </a:p>
        </p:txBody>
      </p:sp>
      <p:sp>
        <p:nvSpPr>
          <p:cNvPr id="43" name="Rectangle: Rounded Corners 42">
            <a:extLst>
              <a:ext uri="{FF2B5EF4-FFF2-40B4-BE49-F238E27FC236}">
                <a16:creationId xmlns:a16="http://schemas.microsoft.com/office/drawing/2014/main" id="{4714770E-71E6-42F5-BA9F-105448B5F1AC}"/>
              </a:ext>
            </a:extLst>
          </p:cNvPr>
          <p:cNvSpPr/>
          <p:nvPr/>
        </p:nvSpPr>
        <p:spPr>
          <a:xfrm>
            <a:off x="285839" y="3687256"/>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E0A82E8B-DB94-4DBE-A1DD-C193079A3150}"/>
              </a:ext>
            </a:extLst>
          </p:cNvPr>
          <p:cNvSpPr txBox="1"/>
          <p:nvPr/>
        </p:nvSpPr>
        <p:spPr>
          <a:xfrm>
            <a:off x="597189" y="3728401"/>
            <a:ext cx="5639111" cy="400110"/>
          </a:xfrm>
          <a:prstGeom prst="rect">
            <a:avLst/>
          </a:prstGeom>
          <a:noFill/>
        </p:spPr>
        <p:txBody>
          <a:bodyPr wrap="square" rtlCol="0">
            <a:spAutoFit/>
          </a:bodyPr>
          <a:lstStyle/>
          <a:p>
            <a:r>
              <a:rPr lang="en-IN" sz="1000" dirty="0"/>
              <a:t>Azure API apps to be deployed in App Service Plan and allowing you to connect with your storage services/database service etc..</a:t>
            </a:r>
          </a:p>
        </p:txBody>
      </p:sp>
      <p:sp>
        <p:nvSpPr>
          <p:cNvPr id="46" name="Oval 45">
            <a:extLst>
              <a:ext uri="{FF2B5EF4-FFF2-40B4-BE49-F238E27FC236}">
                <a16:creationId xmlns:a16="http://schemas.microsoft.com/office/drawing/2014/main" id="{5F70B17D-6FC8-45BA-8A53-2BE1E966B298}"/>
              </a:ext>
            </a:extLst>
          </p:cNvPr>
          <p:cNvSpPr/>
          <p:nvPr/>
        </p:nvSpPr>
        <p:spPr>
          <a:xfrm>
            <a:off x="107656" y="3668156"/>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6</a:t>
            </a:r>
          </a:p>
        </p:txBody>
      </p:sp>
      <p:sp>
        <p:nvSpPr>
          <p:cNvPr id="48" name="TextBox 47">
            <a:extLst>
              <a:ext uri="{FF2B5EF4-FFF2-40B4-BE49-F238E27FC236}">
                <a16:creationId xmlns:a16="http://schemas.microsoft.com/office/drawing/2014/main" id="{F9BF2840-53DE-4A8D-84C8-0FC91BEA6F9B}"/>
              </a:ext>
            </a:extLst>
          </p:cNvPr>
          <p:cNvSpPr txBox="1"/>
          <p:nvPr/>
        </p:nvSpPr>
        <p:spPr>
          <a:xfrm>
            <a:off x="597189" y="4438794"/>
            <a:ext cx="5639111" cy="246221"/>
          </a:xfrm>
          <a:prstGeom prst="rect">
            <a:avLst/>
          </a:prstGeom>
          <a:noFill/>
        </p:spPr>
        <p:txBody>
          <a:bodyPr wrap="square" rtlCol="0">
            <a:spAutoFit/>
          </a:bodyPr>
          <a:lstStyle/>
          <a:p>
            <a:r>
              <a:rPr lang="en-IN" sz="1000" dirty="0"/>
              <a:t>Azure Storage services to capture emp details in table storage and emp images into blob storage</a:t>
            </a:r>
          </a:p>
        </p:txBody>
      </p:sp>
      <p:sp>
        <p:nvSpPr>
          <p:cNvPr id="49" name="Rectangle: Rounded Corners 48">
            <a:extLst>
              <a:ext uri="{FF2B5EF4-FFF2-40B4-BE49-F238E27FC236}">
                <a16:creationId xmlns:a16="http://schemas.microsoft.com/office/drawing/2014/main" id="{DD725AFE-3E98-40BF-AEBE-5B17760E9CA6}"/>
              </a:ext>
            </a:extLst>
          </p:cNvPr>
          <p:cNvSpPr/>
          <p:nvPr/>
        </p:nvSpPr>
        <p:spPr>
          <a:xfrm>
            <a:off x="337018" y="4367286"/>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FD1D9A61-90AA-46AE-B253-C47F5DDE2865}"/>
              </a:ext>
            </a:extLst>
          </p:cNvPr>
          <p:cNvSpPr/>
          <p:nvPr/>
        </p:nvSpPr>
        <p:spPr>
          <a:xfrm>
            <a:off x="107656" y="4364355"/>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7</a:t>
            </a:r>
          </a:p>
        </p:txBody>
      </p:sp>
      <p:sp>
        <p:nvSpPr>
          <p:cNvPr id="52" name="TextBox 51">
            <a:extLst>
              <a:ext uri="{FF2B5EF4-FFF2-40B4-BE49-F238E27FC236}">
                <a16:creationId xmlns:a16="http://schemas.microsoft.com/office/drawing/2014/main" id="{31E1069F-6484-4F56-88B9-F35F44DF25D1}"/>
              </a:ext>
            </a:extLst>
          </p:cNvPr>
          <p:cNvSpPr txBox="1"/>
          <p:nvPr/>
        </p:nvSpPr>
        <p:spPr>
          <a:xfrm>
            <a:off x="590937" y="5085516"/>
            <a:ext cx="5639111" cy="246221"/>
          </a:xfrm>
          <a:prstGeom prst="rect">
            <a:avLst/>
          </a:prstGeom>
          <a:noFill/>
        </p:spPr>
        <p:txBody>
          <a:bodyPr wrap="square" rtlCol="0">
            <a:spAutoFit/>
          </a:bodyPr>
          <a:lstStyle/>
          <a:p>
            <a:r>
              <a:rPr lang="en-IN" sz="1000" dirty="0"/>
              <a:t>Map Blob images to CDN endpoint for caching emp images for faster access into web app</a:t>
            </a:r>
          </a:p>
        </p:txBody>
      </p:sp>
      <p:sp>
        <p:nvSpPr>
          <p:cNvPr id="53" name="Rectangle: Rounded Corners 52">
            <a:extLst>
              <a:ext uri="{FF2B5EF4-FFF2-40B4-BE49-F238E27FC236}">
                <a16:creationId xmlns:a16="http://schemas.microsoft.com/office/drawing/2014/main" id="{91D288EB-404C-4F8D-964D-689069B33C84}"/>
              </a:ext>
            </a:extLst>
          </p:cNvPr>
          <p:cNvSpPr/>
          <p:nvPr/>
        </p:nvSpPr>
        <p:spPr>
          <a:xfrm>
            <a:off x="330766" y="5014008"/>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F58CF479-9AF4-4EB3-B324-DB9F26A31E68}"/>
              </a:ext>
            </a:extLst>
          </p:cNvPr>
          <p:cNvSpPr/>
          <p:nvPr/>
        </p:nvSpPr>
        <p:spPr>
          <a:xfrm>
            <a:off x="107656" y="5011077"/>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8</a:t>
            </a:r>
          </a:p>
        </p:txBody>
      </p:sp>
      <p:sp>
        <p:nvSpPr>
          <p:cNvPr id="56" name="TextBox 55">
            <a:extLst>
              <a:ext uri="{FF2B5EF4-FFF2-40B4-BE49-F238E27FC236}">
                <a16:creationId xmlns:a16="http://schemas.microsoft.com/office/drawing/2014/main" id="{01344DD8-6985-495D-A5D6-80BE95A70CD9}"/>
              </a:ext>
            </a:extLst>
          </p:cNvPr>
          <p:cNvSpPr txBox="1"/>
          <p:nvPr/>
        </p:nvSpPr>
        <p:spPr>
          <a:xfrm>
            <a:off x="590937" y="5674618"/>
            <a:ext cx="5639111" cy="400110"/>
          </a:xfrm>
          <a:prstGeom prst="rect">
            <a:avLst/>
          </a:prstGeom>
          <a:noFill/>
        </p:spPr>
        <p:txBody>
          <a:bodyPr wrap="square" rtlCol="0">
            <a:spAutoFit/>
          </a:bodyPr>
          <a:lstStyle/>
          <a:p>
            <a:r>
              <a:rPr lang="en-IN" sz="1000" dirty="0"/>
              <a:t>Configure Azure Service Bus Queue to send your emp details like Blob URL for image processing and resize it, sending email id to send automated welcome email</a:t>
            </a:r>
          </a:p>
        </p:txBody>
      </p:sp>
      <p:sp>
        <p:nvSpPr>
          <p:cNvPr id="57" name="Rectangle: Rounded Corners 56">
            <a:extLst>
              <a:ext uri="{FF2B5EF4-FFF2-40B4-BE49-F238E27FC236}">
                <a16:creationId xmlns:a16="http://schemas.microsoft.com/office/drawing/2014/main" id="{60383CC7-4270-423F-8C98-15DCBB365F29}"/>
              </a:ext>
            </a:extLst>
          </p:cNvPr>
          <p:cNvSpPr/>
          <p:nvPr/>
        </p:nvSpPr>
        <p:spPr>
          <a:xfrm>
            <a:off x="330766" y="5603110"/>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3AE9EA4A-D6D5-4193-8AE5-5678BEE33371}"/>
              </a:ext>
            </a:extLst>
          </p:cNvPr>
          <p:cNvSpPr/>
          <p:nvPr/>
        </p:nvSpPr>
        <p:spPr>
          <a:xfrm>
            <a:off x="107656" y="5600179"/>
            <a:ext cx="482400" cy="48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9</a:t>
            </a:r>
          </a:p>
        </p:txBody>
      </p:sp>
      <p:sp>
        <p:nvSpPr>
          <p:cNvPr id="60" name="TextBox 59">
            <a:extLst>
              <a:ext uri="{FF2B5EF4-FFF2-40B4-BE49-F238E27FC236}">
                <a16:creationId xmlns:a16="http://schemas.microsoft.com/office/drawing/2014/main" id="{0590E31B-9B78-4F37-B318-0C282E7DD4DD}"/>
              </a:ext>
            </a:extLst>
          </p:cNvPr>
          <p:cNvSpPr txBox="1"/>
          <p:nvPr/>
        </p:nvSpPr>
        <p:spPr>
          <a:xfrm>
            <a:off x="590937" y="6290337"/>
            <a:ext cx="5639111" cy="400110"/>
          </a:xfrm>
          <a:prstGeom prst="rect">
            <a:avLst/>
          </a:prstGeom>
          <a:noFill/>
        </p:spPr>
        <p:txBody>
          <a:bodyPr wrap="square" rtlCol="0">
            <a:spAutoFit/>
          </a:bodyPr>
          <a:lstStyle/>
          <a:p>
            <a:r>
              <a:rPr lang="en-IN" sz="1000" dirty="0"/>
              <a:t>Use Azure Functions to perform activities based on event triggered and get the message from Service Bus queue and process the further activities. Create function app using predefine templates</a:t>
            </a:r>
          </a:p>
        </p:txBody>
      </p:sp>
      <p:sp>
        <p:nvSpPr>
          <p:cNvPr id="61" name="Rectangle: Rounded Corners 60">
            <a:extLst>
              <a:ext uri="{FF2B5EF4-FFF2-40B4-BE49-F238E27FC236}">
                <a16:creationId xmlns:a16="http://schemas.microsoft.com/office/drawing/2014/main" id="{E766B129-38A0-4A0E-BA2F-DC51EE39378F}"/>
              </a:ext>
            </a:extLst>
          </p:cNvPr>
          <p:cNvSpPr/>
          <p:nvPr/>
        </p:nvSpPr>
        <p:spPr>
          <a:xfrm>
            <a:off x="330766" y="6218829"/>
            <a:ext cx="6009300"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601D4A84-F346-4F2B-85B3-4AB7CCA000D2}"/>
              </a:ext>
            </a:extLst>
          </p:cNvPr>
          <p:cNvSpPr/>
          <p:nvPr/>
        </p:nvSpPr>
        <p:spPr>
          <a:xfrm>
            <a:off x="107656" y="6220190"/>
            <a:ext cx="481039" cy="4810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10</a:t>
            </a:r>
          </a:p>
        </p:txBody>
      </p:sp>
      <p:sp>
        <p:nvSpPr>
          <p:cNvPr id="64" name="TextBox 63">
            <a:extLst>
              <a:ext uri="{FF2B5EF4-FFF2-40B4-BE49-F238E27FC236}">
                <a16:creationId xmlns:a16="http://schemas.microsoft.com/office/drawing/2014/main" id="{07CE88BD-EC8B-4A98-8BF6-A38163EC3095}"/>
              </a:ext>
            </a:extLst>
          </p:cNvPr>
          <p:cNvSpPr txBox="1"/>
          <p:nvPr/>
        </p:nvSpPr>
        <p:spPr>
          <a:xfrm>
            <a:off x="6956010" y="229603"/>
            <a:ext cx="4620174" cy="400110"/>
          </a:xfrm>
          <a:prstGeom prst="rect">
            <a:avLst/>
          </a:prstGeom>
          <a:noFill/>
        </p:spPr>
        <p:txBody>
          <a:bodyPr wrap="square" rtlCol="0">
            <a:spAutoFit/>
          </a:bodyPr>
          <a:lstStyle/>
          <a:p>
            <a:r>
              <a:rPr lang="en-IN" sz="1000" dirty="0"/>
              <a:t>Use Send Grid email service to send automated email to the employee email ID passed via Function app.</a:t>
            </a:r>
          </a:p>
        </p:txBody>
      </p:sp>
      <p:sp>
        <p:nvSpPr>
          <p:cNvPr id="65" name="Rectangle: Rounded Corners 64">
            <a:extLst>
              <a:ext uri="{FF2B5EF4-FFF2-40B4-BE49-F238E27FC236}">
                <a16:creationId xmlns:a16="http://schemas.microsoft.com/office/drawing/2014/main" id="{D0E2D0C3-6F06-4307-8F88-4559F30DA587}"/>
              </a:ext>
            </a:extLst>
          </p:cNvPr>
          <p:cNvSpPr/>
          <p:nvPr/>
        </p:nvSpPr>
        <p:spPr>
          <a:xfrm>
            <a:off x="6625115" y="188458"/>
            <a:ext cx="5452096"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B1D05963-F329-4CD4-83FA-BBB8601E0434}"/>
              </a:ext>
            </a:extLst>
          </p:cNvPr>
          <p:cNvSpPr/>
          <p:nvPr/>
        </p:nvSpPr>
        <p:spPr>
          <a:xfrm>
            <a:off x="6470360" y="189138"/>
            <a:ext cx="481039" cy="4810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11</a:t>
            </a:r>
          </a:p>
        </p:txBody>
      </p:sp>
      <p:sp>
        <p:nvSpPr>
          <p:cNvPr id="68" name="TextBox 67">
            <a:extLst>
              <a:ext uri="{FF2B5EF4-FFF2-40B4-BE49-F238E27FC236}">
                <a16:creationId xmlns:a16="http://schemas.microsoft.com/office/drawing/2014/main" id="{D4AFB447-D98B-4D8E-83EC-2C0A046BD046}"/>
              </a:ext>
            </a:extLst>
          </p:cNvPr>
          <p:cNvSpPr txBox="1"/>
          <p:nvPr/>
        </p:nvSpPr>
        <p:spPr>
          <a:xfrm>
            <a:off x="7075674" y="912107"/>
            <a:ext cx="4620174" cy="400110"/>
          </a:xfrm>
          <a:prstGeom prst="rect">
            <a:avLst/>
          </a:prstGeom>
          <a:noFill/>
        </p:spPr>
        <p:txBody>
          <a:bodyPr wrap="square" rtlCol="0">
            <a:spAutoFit/>
          </a:bodyPr>
          <a:lstStyle/>
          <a:p>
            <a:r>
              <a:rPr lang="en-IN" sz="1000" dirty="0"/>
              <a:t>Use Azure cognitive service along with Compute Vision service to perform resize operation for images uploaded by employees.</a:t>
            </a:r>
          </a:p>
        </p:txBody>
      </p:sp>
      <p:sp>
        <p:nvSpPr>
          <p:cNvPr id="69" name="Rectangle: Rounded Corners 68">
            <a:extLst>
              <a:ext uri="{FF2B5EF4-FFF2-40B4-BE49-F238E27FC236}">
                <a16:creationId xmlns:a16="http://schemas.microsoft.com/office/drawing/2014/main" id="{58BB3FFE-C459-4C97-A441-837EBE4112E7}"/>
              </a:ext>
            </a:extLst>
          </p:cNvPr>
          <p:cNvSpPr/>
          <p:nvPr/>
        </p:nvSpPr>
        <p:spPr>
          <a:xfrm>
            <a:off x="6625115" y="872508"/>
            <a:ext cx="5452096" cy="482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79F8F04F-758C-4EB5-9488-8A74B7B4AB3C}"/>
              </a:ext>
            </a:extLst>
          </p:cNvPr>
          <p:cNvSpPr/>
          <p:nvPr/>
        </p:nvSpPr>
        <p:spPr>
          <a:xfrm>
            <a:off x="6508834" y="873869"/>
            <a:ext cx="481039" cy="4810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12</a:t>
            </a:r>
          </a:p>
        </p:txBody>
      </p:sp>
    </p:spTree>
    <p:extLst>
      <p:ext uri="{BB962C8B-B14F-4D97-AF65-F5344CB8AC3E}">
        <p14:creationId xmlns:p14="http://schemas.microsoft.com/office/powerpoint/2010/main" val="4140341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25F23-8E10-51CB-4569-017B3AFE1811}"/>
              </a:ext>
            </a:extLst>
          </p:cNvPr>
          <p:cNvSpPr>
            <a:spLocks noGrp="1"/>
          </p:cNvSpPr>
          <p:nvPr>
            <p:ph type="title"/>
          </p:nvPr>
        </p:nvSpPr>
        <p:spPr/>
        <p:txBody>
          <a:bodyPr/>
          <a:lstStyle/>
          <a:p>
            <a:r>
              <a:rPr lang="en-US" dirty="0"/>
              <a:t>CDN – Content Delivery Network</a:t>
            </a:r>
          </a:p>
        </p:txBody>
      </p:sp>
      <p:pic>
        <p:nvPicPr>
          <p:cNvPr id="4" name="Picture 12" descr="User icon">
            <a:extLst>
              <a:ext uri="{FF2B5EF4-FFF2-40B4-BE49-F238E27FC236}">
                <a16:creationId xmlns:a16="http://schemas.microsoft.com/office/drawing/2014/main" id="{49CCCB25-DDBD-0E33-1B12-0DEBAEC5E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15157"/>
            <a:ext cx="959360" cy="959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User icon">
            <a:extLst>
              <a:ext uri="{FF2B5EF4-FFF2-40B4-BE49-F238E27FC236}">
                <a16:creationId xmlns:a16="http://schemas.microsoft.com/office/drawing/2014/main" id="{376FAA12-5D6B-D120-C68A-4C430117B4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40720"/>
            <a:ext cx="959360" cy="95936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User icon">
            <a:extLst>
              <a:ext uri="{FF2B5EF4-FFF2-40B4-BE49-F238E27FC236}">
                <a16:creationId xmlns:a16="http://schemas.microsoft.com/office/drawing/2014/main" id="{7139ABE2-6FEE-C6D2-D2EC-1FC8A625B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966283"/>
            <a:ext cx="959360" cy="959360"/>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Computer outline">
            <a:extLst>
              <a:ext uri="{FF2B5EF4-FFF2-40B4-BE49-F238E27FC236}">
                <a16:creationId xmlns:a16="http://schemas.microsoft.com/office/drawing/2014/main" id="{FA454EDD-737D-28C4-773C-E64235EFC57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66260"/>
          <a:stretch/>
        </p:blipFill>
        <p:spPr>
          <a:xfrm>
            <a:off x="10470994" y="1968704"/>
            <a:ext cx="1282391" cy="3800822"/>
          </a:xfrm>
          <a:prstGeom prst="rect">
            <a:avLst/>
          </a:prstGeom>
        </p:spPr>
      </p:pic>
      <p:pic>
        <p:nvPicPr>
          <p:cNvPr id="9" name="Graphic 8" descr="Computer outline">
            <a:extLst>
              <a:ext uri="{FF2B5EF4-FFF2-40B4-BE49-F238E27FC236}">
                <a16:creationId xmlns:a16="http://schemas.microsoft.com/office/drawing/2014/main" id="{BC142D84-ABC3-1726-8B32-1825B43D2D1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66260"/>
          <a:stretch/>
        </p:blipFill>
        <p:spPr>
          <a:xfrm>
            <a:off x="5047784" y="1968704"/>
            <a:ext cx="1282391" cy="3800822"/>
          </a:xfrm>
          <a:prstGeom prst="rect">
            <a:avLst/>
          </a:prstGeom>
        </p:spPr>
      </p:pic>
      <p:cxnSp>
        <p:nvCxnSpPr>
          <p:cNvPr id="11" name="Straight Arrow Connector 10">
            <a:extLst>
              <a:ext uri="{FF2B5EF4-FFF2-40B4-BE49-F238E27FC236}">
                <a16:creationId xmlns:a16="http://schemas.microsoft.com/office/drawing/2014/main" id="{BC3621F5-C91B-066B-9835-939847319C9E}"/>
              </a:ext>
            </a:extLst>
          </p:cNvPr>
          <p:cNvCxnSpPr>
            <a:stCxn id="4" idx="3"/>
          </p:cNvCxnSpPr>
          <p:nvPr/>
        </p:nvCxnSpPr>
        <p:spPr>
          <a:xfrm>
            <a:off x="1797560" y="2794837"/>
            <a:ext cx="3332001" cy="929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9B9727-4C2A-1725-9FDD-EC79D1851081}"/>
              </a:ext>
            </a:extLst>
          </p:cNvPr>
          <p:cNvSpPr txBox="1"/>
          <p:nvPr/>
        </p:nvSpPr>
        <p:spPr>
          <a:xfrm>
            <a:off x="5032916" y="5076631"/>
            <a:ext cx="1379673" cy="369332"/>
          </a:xfrm>
          <a:prstGeom prst="rect">
            <a:avLst/>
          </a:prstGeom>
          <a:noFill/>
        </p:spPr>
        <p:txBody>
          <a:bodyPr wrap="none" rtlCol="0">
            <a:spAutoFit/>
          </a:bodyPr>
          <a:lstStyle/>
          <a:p>
            <a:r>
              <a:rPr lang="en-US" dirty="0"/>
              <a:t>POP location</a:t>
            </a:r>
          </a:p>
        </p:txBody>
      </p:sp>
      <p:cxnSp>
        <p:nvCxnSpPr>
          <p:cNvPr id="14" name="Straight Arrow Connector 13">
            <a:extLst>
              <a:ext uri="{FF2B5EF4-FFF2-40B4-BE49-F238E27FC236}">
                <a16:creationId xmlns:a16="http://schemas.microsoft.com/office/drawing/2014/main" id="{E732E61D-556C-A34B-4968-4B755DD883A6}"/>
              </a:ext>
            </a:extLst>
          </p:cNvPr>
          <p:cNvCxnSpPr>
            <a:stCxn id="9" idx="3"/>
            <a:endCxn id="8" idx="1"/>
          </p:cNvCxnSpPr>
          <p:nvPr/>
        </p:nvCxnSpPr>
        <p:spPr>
          <a:xfrm>
            <a:off x="6330175" y="3869115"/>
            <a:ext cx="41408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7D44A9D-DDA1-E9CB-4612-099DF22039C0}"/>
              </a:ext>
            </a:extLst>
          </p:cNvPr>
          <p:cNvCxnSpPr/>
          <p:nvPr/>
        </p:nvCxnSpPr>
        <p:spPr>
          <a:xfrm flipH="1">
            <a:off x="6244683" y="4120400"/>
            <a:ext cx="42263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551637-6187-C015-96C9-A21AB7365111}"/>
              </a:ext>
            </a:extLst>
          </p:cNvPr>
          <p:cNvCxnSpPr>
            <a:stCxn id="9" idx="1"/>
          </p:cNvCxnSpPr>
          <p:nvPr/>
        </p:nvCxnSpPr>
        <p:spPr>
          <a:xfrm flipH="1" flipV="1">
            <a:off x="1717288" y="2910468"/>
            <a:ext cx="3330496" cy="958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90A31EB-C65F-2003-1803-647FA2FB2EEC}"/>
              </a:ext>
            </a:extLst>
          </p:cNvPr>
          <p:cNvCxnSpPr>
            <a:stCxn id="5" idx="3"/>
            <a:endCxn id="9" idx="1"/>
          </p:cNvCxnSpPr>
          <p:nvPr/>
        </p:nvCxnSpPr>
        <p:spPr>
          <a:xfrm flipV="1">
            <a:off x="1797560" y="3869115"/>
            <a:ext cx="3250224" cy="251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CF0370C-4BE4-7EE1-0677-2DFE5EEB452B}"/>
              </a:ext>
            </a:extLst>
          </p:cNvPr>
          <p:cNvCxnSpPr/>
          <p:nvPr/>
        </p:nvCxnSpPr>
        <p:spPr>
          <a:xfrm flipH="1">
            <a:off x="1717288" y="3994757"/>
            <a:ext cx="3412273" cy="298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FABBB7D-E303-FEAD-9F5B-636C1C0067FC}"/>
              </a:ext>
            </a:extLst>
          </p:cNvPr>
          <p:cNvSpPr txBox="1"/>
          <p:nvPr/>
        </p:nvSpPr>
        <p:spPr>
          <a:xfrm>
            <a:off x="10674408" y="4963218"/>
            <a:ext cx="753732" cy="369332"/>
          </a:xfrm>
          <a:prstGeom prst="rect">
            <a:avLst/>
          </a:prstGeom>
          <a:noFill/>
        </p:spPr>
        <p:txBody>
          <a:bodyPr wrap="none" rtlCol="0">
            <a:spAutoFit/>
          </a:bodyPr>
          <a:lstStyle/>
          <a:p>
            <a:r>
              <a:rPr lang="en-US" dirty="0"/>
              <a:t>Origin</a:t>
            </a:r>
          </a:p>
        </p:txBody>
      </p:sp>
      <p:sp>
        <p:nvSpPr>
          <p:cNvPr id="3" name="Oval 2">
            <a:extLst>
              <a:ext uri="{FF2B5EF4-FFF2-40B4-BE49-F238E27FC236}">
                <a16:creationId xmlns:a16="http://schemas.microsoft.com/office/drawing/2014/main" id="{CF45C08E-7800-7000-AFCB-540C4125345C}"/>
              </a:ext>
            </a:extLst>
          </p:cNvPr>
          <p:cNvSpPr/>
          <p:nvPr/>
        </p:nvSpPr>
        <p:spPr>
          <a:xfrm>
            <a:off x="1944414" y="2396359"/>
            <a:ext cx="398478" cy="3984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a:extLst>
              <a:ext uri="{FF2B5EF4-FFF2-40B4-BE49-F238E27FC236}">
                <a16:creationId xmlns:a16="http://schemas.microsoft.com/office/drawing/2014/main" id="{58E1600D-6B17-BEA5-BBA6-11C165D416BD}"/>
              </a:ext>
            </a:extLst>
          </p:cNvPr>
          <p:cNvSpPr/>
          <p:nvPr/>
        </p:nvSpPr>
        <p:spPr>
          <a:xfrm>
            <a:off x="10475169" y="2224665"/>
            <a:ext cx="398478" cy="3984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 name="Oval 9">
            <a:extLst>
              <a:ext uri="{FF2B5EF4-FFF2-40B4-BE49-F238E27FC236}">
                <a16:creationId xmlns:a16="http://schemas.microsoft.com/office/drawing/2014/main" id="{B861E283-22DD-5905-7ED8-B939B41A8300}"/>
              </a:ext>
            </a:extLst>
          </p:cNvPr>
          <p:cNvSpPr/>
          <p:nvPr/>
        </p:nvSpPr>
        <p:spPr>
          <a:xfrm>
            <a:off x="6387780" y="4254049"/>
            <a:ext cx="398478" cy="3984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3" name="Oval 12">
            <a:extLst>
              <a:ext uri="{FF2B5EF4-FFF2-40B4-BE49-F238E27FC236}">
                <a16:creationId xmlns:a16="http://schemas.microsoft.com/office/drawing/2014/main" id="{1134F831-31BE-294B-EB2A-C2DAA33E9B02}"/>
              </a:ext>
            </a:extLst>
          </p:cNvPr>
          <p:cNvSpPr/>
          <p:nvPr/>
        </p:nvSpPr>
        <p:spPr>
          <a:xfrm>
            <a:off x="1830921" y="3186055"/>
            <a:ext cx="398478" cy="3984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5" name="Oval 14">
            <a:extLst>
              <a:ext uri="{FF2B5EF4-FFF2-40B4-BE49-F238E27FC236}">
                <a16:creationId xmlns:a16="http://schemas.microsoft.com/office/drawing/2014/main" id="{FEEE2655-5B75-A656-9DAA-974B97B7EAAA}"/>
              </a:ext>
            </a:extLst>
          </p:cNvPr>
          <p:cNvSpPr/>
          <p:nvPr/>
        </p:nvSpPr>
        <p:spPr>
          <a:xfrm>
            <a:off x="2681473" y="3584533"/>
            <a:ext cx="398478" cy="3984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7" name="Oval 16">
            <a:extLst>
              <a:ext uri="{FF2B5EF4-FFF2-40B4-BE49-F238E27FC236}">
                <a16:creationId xmlns:a16="http://schemas.microsoft.com/office/drawing/2014/main" id="{4DB27E67-6E4A-1369-E51C-7A7FDD8C90A0}"/>
              </a:ext>
            </a:extLst>
          </p:cNvPr>
          <p:cNvSpPr/>
          <p:nvPr/>
        </p:nvSpPr>
        <p:spPr>
          <a:xfrm>
            <a:off x="1967125" y="4351401"/>
            <a:ext cx="398478" cy="3984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Tree>
    <p:extLst>
      <p:ext uri="{BB962C8B-B14F-4D97-AF65-F5344CB8AC3E}">
        <p14:creationId xmlns:p14="http://schemas.microsoft.com/office/powerpoint/2010/main" val="417071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8876</TotalTime>
  <Words>851</Words>
  <Application>Microsoft Macintosh PowerPoint</Application>
  <PresentationFormat>Widescreen</PresentationFormat>
  <Paragraphs>153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iPaaS –  Azure Logic Apps Workflow Driven solution</vt:lpstr>
      <vt:lpstr>Scenario –  I want to create Traffic update for my upcoming journey. You need to enter start point and end point journey details, you need to use Map services. Once the traffic update is there you need send notification with time frame, create auto check with traffic on time to time basis.  Map services – Bing Map API to capture the Lat Long of start point and end point of journey Email Service – Outlook to send email notification Logic Apps to define this work flow and provide some conditional activities to send the updates </vt:lpstr>
      <vt:lpstr>PowerPoint Presentation</vt:lpstr>
      <vt:lpstr>PowerPoint Presentation</vt:lpstr>
      <vt:lpstr>CDN – Content Delivery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Jigar Pathak</dc:creator>
  <cp:lastModifiedBy>Jigar Pathak</cp:lastModifiedBy>
  <cp:revision>28</cp:revision>
  <dcterms:created xsi:type="dcterms:W3CDTF">2020-07-19T14:04:56Z</dcterms:created>
  <dcterms:modified xsi:type="dcterms:W3CDTF">2025-12-19T06:26:45Z</dcterms:modified>
</cp:coreProperties>
</file>