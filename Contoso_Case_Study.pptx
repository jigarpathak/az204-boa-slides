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7"/>
    <p:restoredTop sz="96599"/>
  </p:normalViewPr>
  <p:slideViewPr>
    <p:cSldViewPr snapToGrid="0">
      <p:cViewPr varScale="1">
        <p:scale>
          <a:sx n="122" d="100"/>
          <a:sy n="122" d="100"/>
        </p:scale>
        <p:origin x="162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2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9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6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3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4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1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0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8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83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blurred background of department store">
            <a:extLst>
              <a:ext uri="{FF2B5EF4-FFF2-40B4-BE49-F238E27FC236}">
                <a16:creationId xmlns:a16="http://schemas.microsoft.com/office/drawing/2014/main" id="{8777CBD8-A110-9004-C307-5BD0E91758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1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8AE82-3A79-B6F1-0EFA-8369B69DA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Case Study: Contoso Retail Solutions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19D-BAA4-6DE4-D965-94C6912F4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Building Enterprise MLOps and GenAIOps on Azure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48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972E-FB8A-947E-4276-4ABC744F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F32E-11D7-A071-872F-4B3D954CE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  <a:p>
            <a:pPr lvl="1"/>
            <a:r>
              <a:rPr lang="en-US" dirty="0"/>
              <a:t>Review customer business requirements </a:t>
            </a:r>
          </a:p>
          <a:p>
            <a:pPr lvl="1"/>
            <a:r>
              <a:rPr lang="en-US" dirty="0"/>
              <a:t>Identify current challenges </a:t>
            </a:r>
          </a:p>
          <a:p>
            <a:pPr lvl="1"/>
            <a:r>
              <a:rPr lang="en-US" dirty="0"/>
              <a:t>Design an Azure AI solution </a:t>
            </a:r>
          </a:p>
          <a:p>
            <a:pPr lvl="1"/>
            <a:r>
              <a:rPr lang="en-US" dirty="0"/>
              <a:t>Create an Azure AI architecture </a:t>
            </a:r>
          </a:p>
          <a:p>
            <a:pPr lvl="1"/>
            <a:r>
              <a:rPr lang="en-US" dirty="0"/>
              <a:t>Present recommendations </a:t>
            </a:r>
          </a:p>
          <a:p>
            <a:pPr lvl="1"/>
            <a:r>
              <a:rPr lang="en-US" dirty="0"/>
              <a:t>Justify technology choices </a:t>
            </a:r>
          </a:p>
          <a:p>
            <a:pPr lvl="1"/>
            <a:r>
              <a:rPr lang="en-US" dirty="0"/>
              <a:t>Address stakeholder concerns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37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8C51-2D40-0D7E-653F-ACCB6537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14" y="267832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Customer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951D-563A-B3ED-5C95-5A95649D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14" y="1399939"/>
            <a:ext cx="10890928" cy="131120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About Contoso Retail Solutions</a:t>
            </a:r>
          </a:p>
          <a:p>
            <a:pPr marL="0" indent="0">
              <a:buNone/>
            </a:pPr>
            <a:r>
              <a:rPr lang="en-US" dirty="0"/>
              <a:t>Contoso Retail Solutions is a multinational retail organization operating over 1,500 physical stores and multiple e-commerce platforms across North America, Europe, and Asia.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98C3B-01FD-935F-D4C1-7AD544A5A9FD}"/>
              </a:ext>
            </a:extLst>
          </p:cNvPr>
          <p:cNvSpPr txBox="1"/>
          <p:nvPr/>
        </p:nvSpPr>
        <p:spPr>
          <a:xfrm>
            <a:off x="618814" y="2894903"/>
            <a:ext cx="33152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company sells: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 Electronics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Appliances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Fashion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Grocery Items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Care Products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78D7B-1ED7-C230-B05B-491A7F3F5C78}"/>
              </a:ext>
            </a:extLst>
          </p:cNvPr>
          <p:cNvSpPr txBox="1"/>
          <p:nvPr/>
        </p:nvSpPr>
        <p:spPr>
          <a:xfrm>
            <a:off x="6074735" y="289490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organization generates terabytes of data daily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Point-of-Sale (POS)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E-commerce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chain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loyalty programs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center interactions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inventory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56891-71AE-C76B-D1B9-541ED5AA8DD0}"/>
              </a:ext>
            </a:extLst>
          </p:cNvPr>
          <p:cNvSpPr txBox="1"/>
          <p:nvPr/>
        </p:nvSpPr>
        <p:spPr>
          <a:xfrm>
            <a:off x="496151" y="5386984"/>
            <a:ext cx="11459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Over the last three years, Contoso has invested heavily in AI and Machine Learning initiatives.</a:t>
            </a:r>
          </a:p>
          <a:p>
            <a:pPr>
              <a:buNone/>
            </a:pPr>
            <a:r>
              <a:rPr lang="en-US" dirty="0"/>
              <a:t>Several business units independently developed machine learning models and generative AI solutions, creating significant operational challenges.</a:t>
            </a:r>
          </a:p>
        </p:txBody>
      </p:sp>
    </p:spTree>
    <p:extLst>
      <p:ext uri="{BB962C8B-B14F-4D97-AF65-F5344CB8AC3E}">
        <p14:creationId xmlns:p14="http://schemas.microsoft.com/office/powerpoint/2010/main" val="47050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9F89-8772-8BDC-060E-C01A087F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90294"/>
            <a:ext cx="10890929" cy="1097280"/>
          </a:xfrm>
        </p:spPr>
        <p:txBody>
          <a:bodyPr/>
          <a:lstStyle/>
          <a:p>
            <a:r>
              <a:rPr lang="en-US" dirty="0"/>
              <a:t>Current AI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609D-6E8E-FE29-59C6-23E00A5D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645920"/>
            <a:ext cx="10890928" cy="356616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Demand Forecasting Team</a:t>
            </a:r>
          </a:p>
          <a:p>
            <a:pPr marL="0" indent="0">
              <a:buNone/>
            </a:pPr>
            <a:r>
              <a:rPr lang="en-US" dirty="0"/>
              <a:t>The Supply Chain Analytics team developed machine learning models to forecast inventory demand.</a:t>
            </a:r>
          </a:p>
          <a:p>
            <a:r>
              <a:rPr lang="en-US" dirty="0"/>
              <a:t>Current issues include:</a:t>
            </a:r>
          </a:p>
          <a:p>
            <a:pPr lvl="1"/>
            <a:r>
              <a:rPr lang="en-US" dirty="0"/>
              <a:t>Models are manually trained by data scientists </a:t>
            </a:r>
          </a:p>
          <a:p>
            <a:pPr lvl="1"/>
            <a:r>
              <a:rPr lang="en-US" dirty="0"/>
              <a:t>No automated retraining process </a:t>
            </a:r>
          </a:p>
          <a:p>
            <a:pPr lvl="1"/>
            <a:r>
              <a:rPr lang="en-US" dirty="0"/>
              <a:t>Model deployment requires manual approvals </a:t>
            </a:r>
          </a:p>
          <a:p>
            <a:pPr lvl="1"/>
            <a:r>
              <a:rPr lang="en-US" dirty="0"/>
              <a:t>Forecast accuracy drops over time due to data drift </a:t>
            </a:r>
          </a:p>
          <a:p>
            <a:pPr lvl="1"/>
            <a:r>
              <a:rPr lang="en-US" dirty="0"/>
              <a:t>No monitoring of model performance after deployment </a:t>
            </a:r>
          </a:p>
          <a:p>
            <a:pPr lvl="1"/>
            <a:r>
              <a:rPr lang="en-US" dirty="0"/>
              <a:t>Multiple model versions exist with no governance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99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6DF8-D180-BACA-2C94-1B743D51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Insights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2F6D0-B821-F1C8-29D8-938EB3B28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Marketing department created recommendation models to provide personalized offers.</a:t>
            </a:r>
          </a:p>
          <a:p>
            <a:r>
              <a:rPr lang="en-US" dirty="0"/>
              <a:t>Current issues include:</a:t>
            </a:r>
          </a:p>
          <a:p>
            <a:pPr lvl="1"/>
            <a:r>
              <a:rPr lang="en-US" dirty="0"/>
              <a:t>Models are deployed differently across regions </a:t>
            </a:r>
          </a:p>
          <a:p>
            <a:pPr lvl="1"/>
            <a:r>
              <a:rPr lang="en-US" dirty="0"/>
              <a:t>No centralized model registry </a:t>
            </a:r>
          </a:p>
          <a:p>
            <a:pPr lvl="1"/>
            <a:r>
              <a:rPr lang="en-US" dirty="0"/>
              <a:t>Difficult rollback process </a:t>
            </a:r>
          </a:p>
          <a:p>
            <a:pPr lvl="1"/>
            <a:r>
              <a:rPr lang="en-US" dirty="0"/>
              <a:t>Inconsistent deployment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1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934B-CE2D-A1A6-F906-04783890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Service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E1F0-4B17-10C1-4EDC-6836ED3E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Customer Service recently launched an AI-powered retail assistant using Large Language Models.</a:t>
            </a:r>
          </a:p>
          <a:p>
            <a:r>
              <a:rPr lang="en-US" dirty="0"/>
              <a:t>Capabilities include:</a:t>
            </a:r>
          </a:p>
          <a:p>
            <a:pPr lvl="1"/>
            <a:r>
              <a:rPr lang="en-US" dirty="0"/>
              <a:t>Product recommendations </a:t>
            </a:r>
          </a:p>
          <a:p>
            <a:pPr lvl="1"/>
            <a:r>
              <a:rPr lang="en-US" dirty="0"/>
              <a:t>Store policy questions </a:t>
            </a:r>
          </a:p>
          <a:p>
            <a:pPr lvl="1"/>
            <a:r>
              <a:rPr lang="en-US" dirty="0"/>
              <a:t>Order tracking support </a:t>
            </a:r>
          </a:p>
          <a:p>
            <a:pPr lvl="1"/>
            <a:r>
              <a:rPr lang="en-US" dirty="0"/>
              <a:t>Inventory availability queries </a:t>
            </a:r>
          </a:p>
          <a:p>
            <a:pPr marL="0" indent="0">
              <a:buNone/>
            </a:pPr>
            <a:r>
              <a:rPr lang="en-US" dirty="0"/>
              <a:t>The solution currently uses:</a:t>
            </a:r>
          </a:p>
          <a:p>
            <a:pPr lvl="1"/>
            <a:r>
              <a:rPr lang="en-US" dirty="0"/>
              <a:t>Azure OpenAI </a:t>
            </a:r>
          </a:p>
          <a:p>
            <a:pPr lvl="1"/>
            <a:r>
              <a:rPr lang="en-US" dirty="0"/>
              <a:t>Product catalogs </a:t>
            </a:r>
          </a:p>
          <a:p>
            <a:pPr lvl="1"/>
            <a:r>
              <a:rPr lang="en-US" dirty="0"/>
              <a:t>Internal knowledge documents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06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C084-B4F5-E3A3-147E-2BA0F52C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79143"/>
            <a:ext cx="10890929" cy="1097280"/>
          </a:xfrm>
        </p:spPr>
        <p:txBody>
          <a:bodyPr/>
          <a:lstStyle/>
          <a:p>
            <a:r>
              <a:rPr lang="en-US" dirty="0"/>
              <a:t>Customer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4F862-83A6-4940-9AEB-9DF47D32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24" y="1836606"/>
            <a:ext cx="2587964" cy="35661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AI Deployment and  Operations Requirements</a:t>
            </a:r>
          </a:p>
          <a:p>
            <a:pPr marL="0" indent="0">
              <a:buNone/>
            </a:pPr>
            <a:r>
              <a:rPr lang="en-US" sz="1800" dirty="0"/>
              <a:t>Contoso requires:</a:t>
            </a:r>
          </a:p>
          <a:p>
            <a:r>
              <a:rPr lang="en-US" sz="1800" b="1" dirty="0"/>
              <a:t>Deployment of AI Solution</a:t>
            </a:r>
          </a:p>
          <a:p>
            <a:pPr lvl="1"/>
            <a:r>
              <a:rPr lang="en-US" sz="1600" dirty="0"/>
              <a:t>Application Version management</a:t>
            </a:r>
          </a:p>
          <a:p>
            <a:pPr lvl="1"/>
            <a:r>
              <a:rPr lang="en-US" sz="1600" dirty="0"/>
              <a:t>Security and governance </a:t>
            </a:r>
          </a:p>
          <a:p>
            <a:pPr lvl="1"/>
            <a:r>
              <a:rPr lang="en-US" sz="1600" dirty="0"/>
              <a:t>Need better platform for managing vector search</a:t>
            </a:r>
          </a:p>
          <a:p>
            <a:pPr lvl="1"/>
            <a:r>
              <a:rPr lang="en-US" sz="1600" dirty="0"/>
              <a:t>Automated CI/CD pipelines</a:t>
            </a:r>
          </a:p>
          <a:p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D6E08B-6036-DFAD-5D40-5C4EA189BA1C}"/>
              </a:ext>
            </a:extLst>
          </p:cNvPr>
          <p:cNvSpPr txBox="1">
            <a:spLocks/>
          </p:cNvSpPr>
          <p:nvPr/>
        </p:nvSpPr>
        <p:spPr>
          <a:xfrm>
            <a:off x="4798062" y="1836606"/>
            <a:ext cx="2587964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Monitoring</a:t>
            </a:r>
          </a:p>
          <a:p>
            <a:pPr marL="0" indent="0">
              <a:buNone/>
            </a:pPr>
            <a:r>
              <a:rPr lang="en-US" sz="1800" dirty="0"/>
              <a:t>The organization requires:</a:t>
            </a:r>
          </a:p>
          <a:p>
            <a:r>
              <a:rPr lang="en-US" sz="1800" dirty="0"/>
              <a:t>Prediction monitoring </a:t>
            </a:r>
          </a:p>
          <a:p>
            <a:r>
              <a:rPr lang="en-US" sz="1800" dirty="0"/>
              <a:t>Data drift monitoring </a:t>
            </a:r>
          </a:p>
          <a:p>
            <a:r>
              <a:rPr lang="en-US" sz="1800" dirty="0"/>
              <a:t>Model quality monitoring </a:t>
            </a:r>
          </a:p>
          <a:p>
            <a:r>
              <a:rPr lang="en-US" sz="1800" dirty="0"/>
              <a:t>Automated alerts</a:t>
            </a:r>
          </a:p>
          <a:p>
            <a:pPr lvl="1"/>
            <a:endParaRPr lang="en-US" sz="1600" dirty="0"/>
          </a:p>
          <a:p>
            <a:endParaRPr lang="en-US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7A5691-4EB7-3A6A-E967-FBF206297E53}"/>
              </a:ext>
            </a:extLst>
          </p:cNvPr>
          <p:cNvSpPr txBox="1">
            <a:spLocks/>
          </p:cNvSpPr>
          <p:nvPr/>
        </p:nvSpPr>
        <p:spPr>
          <a:xfrm>
            <a:off x="8953500" y="1836606"/>
            <a:ext cx="2587964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Governance</a:t>
            </a:r>
          </a:p>
          <a:p>
            <a:pPr marL="0" indent="0">
              <a:buNone/>
            </a:pPr>
            <a:r>
              <a:rPr lang="en-US" sz="1800" dirty="0"/>
              <a:t>The solution must support:</a:t>
            </a:r>
          </a:p>
          <a:p>
            <a:r>
              <a:rPr lang="en-US" sz="1800" dirty="0"/>
              <a:t>Approval workflows </a:t>
            </a:r>
          </a:p>
          <a:p>
            <a:r>
              <a:rPr lang="en-US" sz="1800" dirty="0"/>
              <a:t>Auditability </a:t>
            </a:r>
          </a:p>
          <a:p>
            <a:r>
              <a:rPr lang="en-US" sz="1800" dirty="0"/>
              <a:t>Reproducibility </a:t>
            </a:r>
          </a:p>
          <a:p>
            <a:r>
              <a:rPr lang="en-US" sz="1800" dirty="0"/>
              <a:t>Security compliance</a:t>
            </a:r>
          </a:p>
          <a:p>
            <a:pPr lvl="1"/>
            <a:endParaRPr lang="en-US" sz="16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9307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CE58-C29F-D43B-E4BF-D9DC935B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B319F-108D-7F92-CABE-8DE757AFE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4712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Contoso leadership has established the following goals: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A8379B-E6FC-5CAE-E30A-CD965E2ED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161639"/>
              </p:ext>
            </p:extLst>
          </p:nvPr>
        </p:nvGraphicFramePr>
        <p:xfrm>
          <a:off x="640079" y="3319145"/>
          <a:ext cx="10891836" cy="2560320"/>
        </p:xfrm>
        <a:graphic>
          <a:graphicData uri="http://schemas.openxmlformats.org/drawingml/2006/table">
            <a:tbl>
              <a:tblPr/>
              <a:tblGrid>
                <a:gridCol w="5445918">
                  <a:extLst>
                    <a:ext uri="{9D8B030D-6E8A-4147-A177-3AD203B41FA5}">
                      <a16:colId xmlns:a16="http://schemas.microsoft.com/office/drawing/2014/main" val="286989149"/>
                    </a:ext>
                  </a:extLst>
                </a:gridCol>
                <a:gridCol w="5445918">
                  <a:extLst>
                    <a:ext uri="{9D8B030D-6E8A-4147-A177-3AD203B41FA5}">
                      <a16:colId xmlns:a16="http://schemas.microsoft.com/office/drawing/2014/main" val="27080130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9308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Forecast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1415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Deployment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Reduce by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7388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Governance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8507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GenAI Hallucination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9155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Production Incidents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Reduce by 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988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 Rollback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Under 15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63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40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02B9-2393-0884-1C91-843C33E5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Objections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2ED77-C0C1-F0C1-7B0C-7761947A6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CIO</a:t>
            </a:r>
          </a:p>
          <a:p>
            <a:pPr marL="0" indent="0">
              <a:buNone/>
            </a:pPr>
            <a:r>
              <a:rPr lang="en-US" dirty="0"/>
              <a:t>"We cannot allow AI models to be deployed without governance and approval."</a:t>
            </a:r>
          </a:p>
          <a:p>
            <a:pPr marL="0" indent="0">
              <a:buNone/>
            </a:pPr>
            <a:r>
              <a:rPr lang="en-US" b="1" dirty="0"/>
              <a:t>Head of Retail Operations</a:t>
            </a:r>
          </a:p>
          <a:p>
            <a:pPr marL="0" indent="0">
              <a:buNone/>
            </a:pPr>
            <a:r>
              <a:rPr lang="en-US" dirty="0"/>
              <a:t>"We need confidence that demand forecasting models remain accurate."</a:t>
            </a:r>
          </a:p>
          <a:p>
            <a:pPr marL="0" indent="0">
              <a:buNone/>
            </a:pPr>
            <a:r>
              <a:rPr lang="en-US" b="1" dirty="0"/>
              <a:t>Chief Risk Officer</a:t>
            </a:r>
          </a:p>
          <a:p>
            <a:pPr marL="0" indent="0">
              <a:buNone/>
            </a:pPr>
            <a:r>
              <a:rPr lang="en-US" dirty="0"/>
              <a:t>"We must demonstrate responsible AI and maintain audit trails."</a:t>
            </a:r>
          </a:p>
          <a:p>
            <a:pPr marL="0" indent="0">
              <a:buNone/>
            </a:pPr>
            <a:r>
              <a:rPr lang="en-US" b="1" dirty="0"/>
              <a:t>VP Customer Experience</a:t>
            </a:r>
          </a:p>
          <a:p>
            <a:pPr marL="0" indent="0">
              <a:buNone/>
            </a:pPr>
            <a:r>
              <a:rPr lang="en-US" dirty="0"/>
              <a:t>"We cannot risk customers receiving inaccurate responses from our AI assistant."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2DFD-2D0A-8EEC-84E2-85A8F18B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8B74-86E2-7005-1AD4-C6D4E7A13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4818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an Azure-based solution that addresses: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55B3C-93BB-A923-AF6F-C564CCF5AD13}"/>
              </a:ext>
            </a:extLst>
          </p:cNvPr>
          <p:cNvSpPr txBox="1"/>
          <p:nvPr/>
        </p:nvSpPr>
        <p:spPr>
          <a:xfrm>
            <a:off x="978195" y="3429000"/>
            <a:ext cx="39757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 Application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App deployment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reference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Drift detection vector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105332623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488</Words>
  <Application>Microsoft Macintosh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Case Study: Contoso Retail Solutions </vt:lpstr>
      <vt:lpstr>Case Study Overview</vt:lpstr>
      <vt:lpstr>Customer Situation</vt:lpstr>
      <vt:lpstr>Current AI Landscape</vt:lpstr>
      <vt:lpstr>Customer Insights Team</vt:lpstr>
      <vt:lpstr>Customer Service Team</vt:lpstr>
      <vt:lpstr>Customer Requirements</vt:lpstr>
      <vt:lpstr>Business Objectives</vt:lpstr>
      <vt:lpstr>Customer Objections</vt:lpstr>
      <vt:lpstr>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Jigar Pathak</dc:creator>
  <cp:lastModifiedBy>Jigar Pathak</cp:lastModifiedBy>
  <cp:revision>5</cp:revision>
  <dcterms:created xsi:type="dcterms:W3CDTF">2026-06-25T12:45:39Z</dcterms:created>
  <dcterms:modified xsi:type="dcterms:W3CDTF">2026-07-17T11:47:49Z</dcterms:modified>
</cp:coreProperties>
</file>